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63" r:id="rId4"/>
    <p:sldId id="266" r:id="rId5"/>
    <p:sldId id="260" r:id="rId6"/>
    <p:sldId id="277" r:id="rId7"/>
    <p:sldId id="258" r:id="rId8"/>
    <p:sldId id="279" r:id="rId9"/>
    <p:sldId id="278" r:id="rId10"/>
    <p:sldId id="280" r:id="rId11"/>
    <p:sldId id="267" r:id="rId12"/>
    <p:sldId id="270" r:id="rId13"/>
    <p:sldId id="268" r:id="rId14"/>
    <p:sldId id="281" r:id="rId15"/>
    <p:sldId id="284" r:id="rId16"/>
    <p:sldId id="269" r:id="rId17"/>
    <p:sldId id="271" r:id="rId18"/>
    <p:sldId id="272" r:id="rId19"/>
    <p:sldId id="265" r:id="rId20"/>
    <p:sldId id="282" r:id="rId21"/>
    <p:sldId id="283" r:id="rId22"/>
    <p:sldId id="275" r:id="rId23"/>
    <p:sldId id="261" r:id="rId24"/>
    <p:sldId id="26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Açık Stil 1 - Vurgu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Açık Stil 1 - Vurgu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2" d="100"/>
          <a:sy n="112" d="100"/>
        </p:scale>
        <p:origin x="5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8632D-FD8C-447B-A35B-091D6143A3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597155-ADA8-4150-AFEA-CA345BBFE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15F698-1397-4594-8B7D-4179BC2873AE}"/>
              </a:ext>
            </a:extLst>
          </p:cNvPr>
          <p:cNvSpPr>
            <a:spLocks noGrp="1"/>
          </p:cNvSpPr>
          <p:nvPr>
            <p:ph type="dt" sz="half" idx="10"/>
          </p:nvPr>
        </p:nvSpPr>
        <p:spPr/>
        <p:txBody>
          <a:bodyPr/>
          <a:lstStyle/>
          <a:p>
            <a:fld id="{F78FADD8-C4E9-43D7-B201-71868832C3CC}" type="datetimeFigureOut">
              <a:rPr lang="en-US" smtClean="0"/>
              <a:t>6/19/2025</a:t>
            </a:fld>
            <a:endParaRPr lang="en-US"/>
          </a:p>
        </p:txBody>
      </p:sp>
      <p:sp>
        <p:nvSpPr>
          <p:cNvPr id="5" name="Footer Placeholder 4">
            <a:extLst>
              <a:ext uri="{FF2B5EF4-FFF2-40B4-BE49-F238E27FC236}">
                <a16:creationId xmlns:a16="http://schemas.microsoft.com/office/drawing/2014/main" id="{056B4C7C-C83E-4501-8EE7-E5842426D4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676B6-E22C-4122-8BF5-56ECAB495C85}"/>
              </a:ext>
            </a:extLst>
          </p:cNvPr>
          <p:cNvSpPr>
            <a:spLocks noGrp="1"/>
          </p:cNvSpPr>
          <p:nvPr>
            <p:ph type="sldNum" sz="quarter" idx="12"/>
          </p:nvPr>
        </p:nvSpPr>
        <p:spPr/>
        <p:txBody>
          <a:bodyPr/>
          <a:lstStyle/>
          <a:p>
            <a:fld id="{6EF78716-5576-4404-B733-992B932B38E2}" type="slidenum">
              <a:rPr lang="en-US" smtClean="0"/>
              <a:t>‹#›</a:t>
            </a:fld>
            <a:endParaRPr lang="en-US"/>
          </a:p>
        </p:txBody>
      </p:sp>
    </p:spTree>
    <p:extLst>
      <p:ext uri="{BB962C8B-B14F-4D97-AF65-F5344CB8AC3E}">
        <p14:creationId xmlns:p14="http://schemas.microsoft.com/office/powerpoint/2010/main" val="1144165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6FDA5-5DC9-4EC1-A181-1BA1870F32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908A7C-4307-4151-9FE4-ADC16667FB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B57A79-D297-4873-95FD-C7791623C0E9}"/>
              </a:ext>
            </a:extLst>
          </p:cNvPr>
          <p:cNvSpPr>
            <a:spLocks noGrp="1"/>
          </p:cNvSpPr>
          <p:nvPr>
            <p:ph type="dt" sz="half" idx="10"/>
          </p:nvPr>
        </p:nvSpPr>
        <p:spPr/>
        <p:txBody>
          <a:bodyPr/>
          <a:lstStyle/>
          <a:p>
            <a:fld id="{F78FADD8-C4E9-43D7-B201-71868832C3CC}" type="datetimeFigureOut">
              <a:rPr lang="en-US" smtClean="0"/>
              <a:t>6/19/2025</a:t>
            </a:fld>
            <a:endParaRPr lang="en-US"/>
          </a:p>
        </p:txBody>
      </p:sp>
      <p:sp>
        <p:nvSpPr>
          <p:cNvPr id="5" name="Footer Placeholder 4">
            <a:extLst>
              <a:ext uri="{FF2B5EF4-FFF2-40B4-BE49-F238E27FC236}">
                <a16:creationId xmlns:a16="http://schemas.microsoft.com/office/drawing/2014/main" id="{B6B38958-126C-4245-AC43-C4730E78E1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44E2C5-9D40-4C91-B47C-33D245B31294}"/>
              </a:ext>
            </a:extLst>
          </p:cNvPr>
          <p:cNvSpPr>
            <a:spLocks noGrp="1"/>
          </p:cNvSpPr>
          <p:nvPr>
            <p:ph type="sldNum" sz="quarter" idx="12"/>
          </p:nvPr>
        </p:nvSpPr>
        <p:spPr/>
        <p:txBody>
          <a:bodyPr/>
          <a:lstStyle/>
          <a:p>
            <a:fld id="{6EF78716-5576-4404-B733-992B932B38E2}" type="slidenum">
              <a:rPr lang="en-US" smtClean="0"/>
              <a:t>‹#›</a:t>
            </a:fld>
            <a:endParaRPr lang="en-US"/>
          </a:p>
        </p:txBody>
      </p:sp>
    </p:spTree>
    <p:extLst>
      <p:ext uri="{BB962C8B-B14F-4D97-AF65-F5344CB8AC3E}">
        <p14:creationId xmlns:p14="http://schemas.microsoft.com/office/powerpoint/2010/main" val="2943033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EAA-A76E-4640-98AC-FB32DF212F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5DB32C-4B4D-4424-93C3-2A3A2D70F1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4B29C8-05F1-4C4F-A091-A50B7FDEBDA0}"/>
              </a:ext>
            </a:extLst>
          </p:cNvPr>
          <p:cNvSpPr>
            <a:spLocks noGrp="1"/>
          </p:cNvSpPr>
          <p:nvPr>
            <p:ph type="dt" sz="half" idx="10"/>
          </p:nvPr>
        </p:nvSpPr>
        <p:spPr/>
        <p:txBody>
          <a:bodyPr/>
          <a:lstStyle/>
          <a:p>
            <a:fld id="{F78FADD8-C4E9-43D7-B201-71868832C3CC}" type="datetimeFigureOut">
              <a:rPr lang="en-US" smtClean="0"/>
              <a:t>6/19/2025</a:t>
            </a:fld>
            <a:endParaRPr lang="en-US"/>
          </a:p>
        </p:txBody>
      </p:sp>
      <p:sp>
        <p:nvSpPr>
          <p:cNvPr id="5" name="Footer Placeholder 4">
            <a:extLst>
              <a:ext uri="{FF2B5EF4-FFF2-40B4-BE49-F238E27FC236}">
                <a16:creationId xmlns:a16="http://schemas.microsoft.com/office/drawing/2014/main" id="{244CE4D6-996D-4003-AA1D-AB6A0BA8A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13BE75-02DD-4A95-81FE-233AFD0BC9CC}"/>
              </a:ext>
            </a:extLst>
          </p:cNvPr>
          <p:cNvSpPr>
            <a:spLocks noGrp="1"/>
          </p:cNvSpPr>
          <p:nvPr>
            <p:ph type="sldNum" sz="quarter" idx="12"/>
          </p:nvPr>
        </p:nvSpPr>
        <p:spPr/>
        <p:txBody>
          <a:bodyPr/>
          <a:lstStyle/>
          <a:p>
            <a:fld id="{6EF78716-5576-4404-B733-992B932B38E2}" type="slidenum">
              <a:rPr lang="en-US" smtClean="0"/>
              <a:t>‹#›</a:t>
            </a:fld>
            <a:endParaRPr lang="en-US"/>
          </a:p>
        </p:txBody>
      </p:sp>
    </p:spTree>
    <p:extLst>
      <p:ext uri="{BB962C8B-B14F-4D97-AF65-F5344CB8AC3E}">
        <p14:creationId xmlns:p14="http://schemas.microsoft.com/office/powerpoint/2010/main" val="2044277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4DDF7-B162-445A-8191-BC015249E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4043A4-DEF8-43D3-ACAE-ADE762974C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E5CE68-05D4-4A9B-B7AE-9CC4E51AB5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3AC9788-3E49-443A-981B-D9E3F2CBC24A}"/>
              </a:ext>
            </a:extLst>
          </p:cNvPr>
          <p:cNvSpPr>
            <a:spLocks noGrp="1"/>
          </p:cNvSpPr>
          <p:nvPr>
            <p:ph type="dt" sz="half" idx="10"/>
          </p:nvPr>
        </p:nvSpPr>
        <p:spPr/>
        <p:txBody>
          <a:bodyPr/>
          <a:lstStyle/>
          <a:p>
            <a:fld id="{F78FADD8-C4E9-43D7-B201-71868832C3CC}" type="datetimeFigureOut">
              <a:rPr lang="en-US" smtClean="0"/>
              <a:t>6/19/2025</a:t>
            </a:fld>
            <a:endParaRPr lang="en-US"/>
          </a:p>
        </p:txBody>
      </p:sp>
      <p:sp>
        <p:nvSpPr>
          <p:cNvPr id="6" name="Footer Placeholder 5">
            <a:extLst>
              <a:ext uri="{FF2B5EF4-FFF2-40B4-BE49-F238E27FC236}">
                <a16:creationId xmlns:a16="http://schemas.microsoft.com/office/drawing/2014/main" id="{789C7E0D-5263-40F0-A0AF-5CCDBAE218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D013AE-A962-4A61-8605-C5BC712576C4}"/>
              </a:ext>
            </a:extLst>
          </p:cNvPr>
          <p:cNvSpPr>
            <a:spLocks noGrp="1"/>
          </p:cNvSpPr>
          <p:nvPr>
            <p:ph type="sldNum" sz="quarter" idx="12"/>
          </p:nvPr>
        </p:nvSpPr>
        <p:spPr/>
        <p:txBody>
          <a:bodyPr/>
          <a:lstStyle/>
          <a:p>
            <a:fld id="{6EF78716-5576-4404-B733-992B932B38E2}" type="slidenum">
              <a:rPr lang="en-US" smtClean="0"/>
              <a:t>‹#›</a:t>
            </a:fld>
            <a:endParaRPr lang="en-US"/>
          </a:p>
        </p:txBody>
      </p:sp>
    </p:spTree>
    <p:extLst>
      <p:ext uri="{BB962C8B-B14F-4D97-AF65-F5344CB8AC3E}">
        <p14:creationId xmlns:p14="http://schemas.microsoft.com/office/powerpoint/2010/main" val="2958932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5C0BE-FE56-4479-8550-FE49355BA4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C5BA7F-362A-4E44-B3AA-28AADAF910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9BA8DD-41DD-4809-BA61-7A6B1334C5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539147-20F0-4793-AA41-92F626C638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7017C8-3C71-42C6-9AB4-FBEAFEDED8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A80F98-C64B-4B2A-B44F-731BA5C338D8}"/>
              </a:ext>
            </a:extLst>
          </p:cNvPr>
          <p:cNvSpPr>
            <a:spLocks noGrp="1"/>
          </p:cNvSpPr>
          <p:nvPr>
            <p:ph type="dt" sz="half" idx="10"/>
          </p:nvPr>
        </p:nvSpPr>
        <p:spPr/>
        <p:txBody>
          <a:bodyPr/>
          <a:lstStyle/>
          <a:p>
            <a:fld id="{F78FADD8-C4E9-43D7-B201-71868832C3CC}" type="datetimeFigureOut">
              <a:rPr lang="en-US" smtClean="0"/>
              <a:t>6/19/2025</a:t>
            </a:fld>
            <a:endParaRPr lang="en-US"/>
          </a:p>
        </p:txBody>
      </p:sp>
      <p:sp>
        <p:nvSpPr>
          <p:cNvPr id="8" name="Footer Placeholder 7">
            <a:extLst>
              <a:ext uri="{FF2B5EF4-FFF2-40B4-BE49-F238E27FC236}">
                <a16:creationId xmlns:a16="http://schemas.microsoft.com/office/drawing/2014/main" id="{F75EC4C4-62DE-448F-AC11-6FB14781B8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115AD1-0B71-4F48-8D01-E90770894181}"/>
              </a:ext>
            </a:extLst>
          </p:cNvPr>
          <p:cNvSpPr>
            <a:spLocks noGrp="1"/>
          </p:cNvSpPr>
          <p:nvPr>
            <p:ph type="sldNum" sz="quarter" idx="12"/>
          </p:nvPr>
        </p:nvSpPr>
        <p:spPr/>
        <p:txBody>
          <a:bodyPr/>
          <a:lstStyle/>
          <a:p>
            <a:fld id="{6EF78716-5576-4404-B733-992B932B38E2}" type="slidenum">
              <a:rPr lang="en-US" smtClean="0"/>
              <a:t>‹#›</a:t>
            </a:fld>
            <a:endParaRPr lang="en-US"/>
          </a:p>
        </p:txBody>
      </p:sp>
    </p:spTree>
    <p:extLst>
      <p:ext uri="{BB962C8B-B14F-4D97-AF65-F5344CB8AC3E}">
        <p14:creationId xmlns:p14="http://schemas.microsoft.com/office/powerpoint/2010/main" val="1585934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C6530-CBEA-4633-AF3D-7D411A0D7F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26F31E-9DC3-4EB6-B850-FE1BBAB7DAE1}"/>
              </a:ext>
            </a:extLst>
          </p:cNvPr>
          <p:cNvSpPr>
            <a:spLocks noGrp="1"/>
          </p:cNvSpPr>
          <p:nvPr>
            <p:ph type="dt" sz="half" idx="10"/>
          </p:nvPr>
        </p:nvSpPr>
        <p:spPr/>
        <p:txBody>
          <a:bodyPr/>
          <a:lstStyle/>
          <a:p>
            <a:fld id="{F78FADD8-C4E9-43D7-B201-71868832C3CC}" type="datetimeFigureOut">
              <a:rPr lang="en-US" smtClean="0"/>
              <a:t>6/19/2025</a:t>
            </a:fld>
            <a:endParaRPr lang="en-US"/>
          </a:p>
        </p:txBody>
      </p:sp>
      <p:sp>
        <p:nvSpPr>
          <p:cNvPr id="4" name="Footer Placeholder 3">
            <a:extLst>
              <a:ext uri="{FF2B5EF4-FFF2-40B4-BE49-F238E27FC236}">
                <a16:creationId xmlns:a16="http://schemas.microsoft.com/office/drawing/2014/main" id="{92BF68E9-2752-4828-AD31-42C63B3765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BF2D92-A561-4AE8-BEE6-0B18C87BDBD7}"/>
              </a:ext>
            </a:extLst>
          </p:cNvPr>
          <p:cNvSpPr>
            <a:spLocks noGrp="1"/>
          </p:cNvSpPr>
          <p:nvPr>
            <p:ph type="sldNum" sz="quarter" idx="12"/>
          </p:nvPr>
        </p:nvSpPr>
        <p:spPr/>
        <p:txBody>
          <a:bodyPr/>
          <a:lstStyle/>
          <a:p>
            <a:fld id="{6EF78716-5576-4404-B733-992B932B38E2}" type="slidenum">
              <a:rPr lang="en-US" smtClean="0"/>
              <a:t>‹#›</a:t>
            </a:fld>
            <a:endParaRPr lang="en-US"/>
          </a:p>
        </p:txBody>
      </p:sp>
    </p:spTree>
    <p:extLst>
      <p:ext uri="{BB962C8B-B14F-4D97-AF65-F5344CB8AC3E}">
        <p14:creationId xmlns:p14="http://schemas.microsoft.com/office/powerpoint/2010/main" val="273604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75A4AA-2BFB-424F-B782-84A05F423D5E}"/>
              </a:ext>
            </a:extLst>
          </p:cNvPr>
          <p:cNvSpPr>
            <a:spLocks noGrp="1"/>
          </p:cNvSpPr>
          <p:nvPr>
            <p:ph type="dt" sz="half" idx="10"/>
          </p:nvPr>
        </p:nvSpPr>
        <p:spPr/>
        <p:txBody>
          <a:bodyPr/>
          <a:lstStyle/>
          <a:p>
            <a:fld id="{F78FADD8-C4E9-43D7-B201-71868832C3CC}" type="datetimeFigureOut">
              <a:rPr lang="en-US" smtClean="0"/>
              <a:t>6/19/2025</a:t>
            </a:fld>
            <a:endParaRPr lang="en-US"/>
          </a:p>
        </p:txBody>
      </p:sp>
      <p:sp>
        <p:nvSpPr>
          <p:cNvPr id="3" name="Footer Placeholder 2">
            <a:extLst>
              <a:ext uri="{FF2B5EF4-FFF2-40B4-BE49-F238E27FC236}">
                <a16:creationId xmlns:a16="http://schemas.microsoft.com/office/drawing/2014/main" id="{D2A72C94-98A4-4783-8A4F-7665ABBF48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6F082A-CF00-4AA6-8367-735F7E0E1E71}"/>
              </a:ext>
            </a:extLst>
          </p:cNvPr>
          <p:cNvSpPr>
            <a:spLocks noGrp="1"/>
          </p:cNvSpPr>
          <p:nvPr>
            <p:ph type="sldNum" sz="quarter" idx="12"/>
          </p:nvPr>
        </p:nvSpPr>
        <p:spPr/>
        <p:txBody>
          <a:bodyPr/>
          <a:lstStyle/>
          <a:p>
            <a:fld id="{6EF78716-5576-4404-B733-992B932B38E2}" type="slidenum">
              <a:rPr lang="en-US" smtClean="0"/>
              <a:t>‹#›</a:t>
            </a:fld>
            <a:endParaRPr lang="en-US"/>
          </a:p>
        </p:txBody>
      </p:sp>
    </p:spTree>
    <p:extLst>
      <p:ext uri="{BB962C8B-B14F-4D97-AF65-F5344CB8AC3E}">
        <p14:creationId xmlns:p14="http://schemas.microsoft.com/office/powerpoint/2010/main" val="77052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5F192-B7B5-45EC-BC8D-689924E3FC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534AAB-665F-4DB6-9BE0-8569F8877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295EB3-0FDB-49EA-B4A0-B4029D55F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FCDE78-56C5-46C7-938A-793A71F6AAC7}"/>
              </a:ext>
            </a:extLst>
          </p:cNvPr>
          <p:cNvSpPr>
            <a:spLocks noGrp="1"/>
          </p:cNvSpPr>
          <p:nvPr>
            <p:ph type="dt" sz="half" idx="10"/>
          </p:nvPr>
        </p:nvSpPr>
        <p:spPr/>
        <p:txBody>
          <a:bodyPr/>
          <a:lstStyle/>
          <a:p>
            <a:fld id="{F78FADD8-C4E9-43D7-B201-71868832C3CC}" type="datetimeFigureOut">
              <a:rPr lang="en-US" smtClean="0"/>
              <a:t>6/19/2025</a:t>
            </a:fld>
            <a:endParaRPr lang="en-US"/>
          </a:p>
        </p:txBody>
      </p:sp>
      <p:sp>
        <p:nvSpPr>
          <p:cNvPr id="6" name="Footer Placeholder 5">
            <a:extLst>
              <a:ext uri="{FF2B5EF4-FFF2-40B4-BE49-F238E27FC236}">
                <a16:creationId xmlns:a16="http://schemas.microsoft.com/office/drawing/2014/main" id="{37D7381F-A3F2-4E36-97F9-F2A36F4550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4513EC-5FF3-4F79-87F6-F9EDD5244F37}"/>
              </a:ext>
            </a:extLst>
          </p:cNvPr>
          <p:cNvSpPr>
            <a:spLocks noGrp="1"/>
          </p:cNvSpPr>
          <p:nvPr>
            <p:ph type="sldNum" sz="quarter" idx="12"/>
          </p:nvPr>
        </p:nvSpPr>
        <p:spPr/>
        <p:txBody>
          <a:bodyPr/>
          <a:lstStyle/>
          <a:p>
            <a:fld id="{6EF78716-5576-4404-B733-992B932B38E2}" type="slidenum">
              <a:rPr lang="en-US" smtClean="0"/>
              <a:t>‹#›</a:t>
            </a:fld>
            <a:endParaRPr lang="en-US"/>
          </a:p>
        </p:txBody>
      </p:sp>
    </p:spTree>
    <p:extLst>
      <p:ext uri="{BB962C8B-B14F-4D97-AF65-F5344CB8AC3E}">
        <p14:creationId xmlns:p14="http://schemas.microsoft.com/office/powerpoint/2010/main" val="3332739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A8408-4395-4495-907F-227E73CEEE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E66530-30BE-4CE6-B3B0-62648DEEB6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94A875-82CB-4B24-824F-C53072DF74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8D01F5-DAA9-47BA-A466-3F7A29F142A7}"/>
              </a:ext>
            </a:extLst>
          </p:cNvPr>
          <p:cNvSpPr>
            <a:spLocks noGrp="1"/>
          </p:cNvSpPr>
          <p:nvPr>
            <p:ph type="dt" sz="half" idx="10"/>
          </p:nvPr>
        </p:nvSpPr>
        <p:spPr/>
        <p:txBody>
          <a:bodyPr/>
          <a:lstStyle/>
          <a:p>
            <a:fld id="{F78FADD8-C4E9-43D7-B201-71868832C3CC}" type="datetimeFigureOut">
              <a:rPr lang="en-US" smtClean="0"/>
              <a:t>6/19/2025</a:t>
            </a:fld>
            <a:endParaRPr lang="en-US"/>
          </a:p>
        </p:txBody>
      </p:sp>
      <p:sp>
        <p:nvSpPr>
          <p:cNvPr id="6" name="Footer Placeholder 5">
            <a:extLst>
              <a:ext uri="{FF2B5EF4-FFF2-40B4-BE49-F238E27FC236}">
                <a16:creationId xmlns:a16="http://schemas.microsoft.com/office/drawing/2014/main" id="{719E92DA-79F1-4757-9437-0690587CC8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889CFD-000A-4D4A-9022-B2F9298F0C4B}"/>
              </a:ext>
            </a:extLst>
          </p:cNvPr>
          <p:cNvSpPr>
            <a:spLocks noGrp="1"/>
          </p:cNvSpPr>
          <p:nvPr>
            <p:ph type="sldNum" sz="quarter" idx="12"/>
          </p:nvPr>
        </p:nvSpPr>
        <p:spPr/>
        <p:txBody>
          <a:bodyPr/>
          <a:lstStyle/>
          <a:p>
            <a:fld id="{6EF78716-5576-4404-B733-992B932B38E2}" type="slidenum">
              <a:rPr lang="en-US" smtClean="0"/>
              <a:t>‹#›</a:t>
            </a:fld>
            <a:endParaRPr lang="en-US"/>
          </a:p>
        </p:txBody>
      </p:sp>
    </p:spTree>
    <p:extLst>
      <p:ext uri="{BB962C8B-B14F-4D97-AF65-F5344CB8AC3E}">
        <p14:creationId xmlns:p14="http://schemas.microsoft.com/office/powerpoint/2010/main" val="2152181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9859A-9FCC-4477-AC48-D41D9AA457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3850E9-FF69-40DA-A897-51245E1264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296CB5-CFBC-4478-868B-577F73D14638}"/>
              </a:ext>
            </a:extLst>
          </p:cNvPr>
          <p:cNvSpPr>
            <a:spLocks noGrp="1"/>
          </p:cNvSpPr>
          <p:nvPr>
            <p:ph type="dt" sz="half" idx="10"/>
          </p:nvPr>
        </p:nvSpPr>
        <p:spPr/>
        <p:txBody>
          <a:bodyPr/>
          <a:lstStyle/>
          <a:p>
            <a:fld id="{F78FADD8-C4E9-43D7-B201-71868832C3CC}" type="datetimeFigureOut">
              <a:rPr lang="en-US" smtClean="0"/>
              <a:t>6/19/2025</a:t>
            </a:fld>
            <a:endParaRPr lang="en-US"/>
          </a:p>
        </p:txBody>
      </p:sp>
      <p:sp>
        <p:nvSpPr>
          <p:cNvPr id="5" name="Footer Placeholder 4">
            <a:extLst>
              <a:ext uri="{FF2B5EF4-FFF2-40B4-BE49-F238E27FC236}">
                <a16:creationId xmlns:a16="http://schemas.microsoft.com/office/drawing/2014/main" id="{5313769B-3997-49BF-B6E0-E0595D3D09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6B7C28-2759-4B53-A729-3B9B455BC88D}"/>
              </a:ext>
            </a:extLst>
          </p:cNvPr>
          <p:cNvSpPr>
            <a:spLocks noGrp="1"/>
          </p:cNvSpPr>
          <p:nvPr>
            <p:ph type="sldNum" sz="quarter" idx="12"/>
          </p:nvPr>
        </p:nvSpPr>
        <p:spPr/>
        <p:txBody>
          <a:bodyPr/>
          <a:lstStyle/>
          <a:p>
            <a:fld id="{6EF78716-5576-4404-B733-992B932B38E2}" type="slidenum">
              <a:rPr lang="en-US" smtClean="0"/>
              <a:t>‹#›</a:t>
            </a:fld>
            <a:endParaRPr lang="en-US"/>
          </a:p>
        </p:txBody>
      </p:sp>
    </p:spTree>
    <p:extLst>
      <p:ext uri="{BB962C8B-B14F-4D97-AF65-F5344CB8AC3E}">
        <p14:creationId xmlns:p14="http://schemas.microsoft.com/office/powerpoint/2010/main" val="1516629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BD2D67-8BEE-4453-9879-0CCC57FED4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28AE12-2DB2-4FDE-905C-3BF1CEC84C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5158B3-506F-403F-BB22-B35A6BB251FA}"/>
              </a:ext>
            </a:extLst>
          </p:cNvPr>
          <p:cNvSpPr>
            <a:spLocks noGrp="1"/>
          </p:cNvSpPr>
          <p:nvPr>
            <p:ph type="dt" sz="half" idx="10"/>
          </p:nvPr>
        </p:nvSpPr>
        <p:spPr/>
        <p:txBody>
          <a:bodyPr/>
          <a:lstStyle/>
          <a:p>
            <a:fld id="{F78FADD8-C4E9-43D7-B201-71868832C3CC}" type="datetimeFigureOut">
              <a:rPr lang="en-US" smtClean="0"/>
              <a:t>6/19/2025</a:t>
            </a:fld>
            <a:endParaRPr lang="en-US"/>
          </a:p>
        </p:txBody>
      </p:sp>
      <p:sp>
        <p:nvSpPr>
          <p:cNvPr id="5" name="Footer Placeholder 4">
            <a:extLst>
              <a:ext uri="{FF2B5EF4-FFF2-40B4-BE49-F238E27FC236}">
                <a16:creationId xmlns:a16="http://schemas.microsoft.com/office/drawing/2014/main" id="{194FAC65-2631-4207-8C79-D57705A973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9E935E-2956-4295-915A-5508BC1AFFF0}"/>
              </a:ext>
            </a:extLst>
          </p:cNvPr>
          <p:cNvSpPr>
            <a:spLocks noGrp="1"/>
          </p:cNvSpPr>
          <p:nvPr>
            <p:ph type="sldNum" sz="quarter" idx="12"/>
          </p:nvPr>
        </p:nvSpPr>
        <p:spPr/>
        <p:txBody>
          <a:bodyPr/>
          <a:lstStyle/>
          <a:p>
            <a:fld id="{6EF78716-5576-4404-B733-992B932B38E2}" type="slidenum">
              <a:rPr lang="en-US" smtClean="0"/>
              <a:t>‹#›</a:t>
            </a:fld>
            <a:endParaRPr lang="en-US"/>
          </a:p>
        </p:txBody>
      </p:sp>
    </p:spTree>
    <p:extLst>
      <p:ext uri="{BB962C8B-B14F-4D97-AF65-F5344CB8AC3E}">
        <p14:creationId xmlns:p14="http://schemas.microsoft.com/office/powerpoint/2010/main" val="3819243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36CA34-071D-4AF2-A8A5-75609A2B10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1F82F5-AE87-407B-9C24-3EDBEFECCA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B0B79E-0DDE-49EE-A1D2-AA0F1565CE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8FADD8-C4E9-43D7-B201-71868832C3CC}" type="datetimeFigureOut">
              <a:rPr lang="en-US" smtClean="0"/>
              <a:t>6/19/2025</a:t>
            </a:fld>
            <a:endParaRPr lang="en-US"/>
          </a:p>
        </p:txBody>
      </p:sp>
      <p:sp>
        <p:nvSpPr>
          <p:cNvPr id="5" name="Footer Placeholder 4">
            <a:extLst>
              <a:ext uri="{FF2B5EF4-FFF2-40B4-BE49-F238E27FC236}">
                <a16:creationId xmlns:a16="http://schemas.microsoft.com/office/drawing/2014/main" id="{5A3425AE-026B-49D1-A345-61429DD42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5075321-449D-4966-B939-C2BED6EB9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78716-5576-4404-B733-992B932B38E2}" type="slidenum">
              <a:rPr lang="en-US" smtClean="0"/>
              <a:t>‹#›</a:t>
            </a:fld>
            <a:endParaRPr lang="en-US"/>
          </a:p>
        </p:txBody>
      </p:sp>
    </p:spTree>
    <p:extLst>
      <p:ext uri="{BB962C8B-B14F-4D97-AF65-F5344CB8AC3E}">
        <p14:creationId xmlns:p14="http://schemas.microsoft.com/office/powerpoint/2010/main" val="1199039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5E45B6-F2F5-4917-BDA6-A4AE6D43C881}"/>
              </a:ext>
            </a:extLst>
          </p:cNvPr>
          <p:cNvSpPr txBox="1">
            <a:spLocks/>
          </p:cNvSpPr>
          <p:nvPr/>
        </p:nvSpPr>
        <p:spPr>
          <a:xfrm>
            <a:off x="1725597" y="3059576"/>
            <a:ext cx="8900604" cy="1325563"/>
          </a:xfrm>
          <a:prstGeom prst="rect">
            <a:avLst/>
          </a:prstGeom>
        </p:spPr>
        <p:txBody>
          <a:bodyPr vert="horz" lIns="91440" tIns="45720" rIns="91440" bIns="45720" rtlCol="0" anchor="b">
            <a:normAutofit/>
            <a:scene3d>
              <a:camera prst="orthographicFront"/>
              <a:lightRig rig="soft" dir="t">
                <a:rot lat="0" lon="0" rev="15600000"/>
              </a:lightRig>
            </a:scene3d>
            <a:sp3d extrusionH="57150" prstMaterial="softEdge">
              <a:bevelT w="25400" h="38100"/>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MENTAL HEALTH CHATBOT</a:t>
            </a:r>
          </a:p>
          <a:p>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E8C9A320-32FB-4C43-BC2A-F5EE6D588775}"/>
              </a:ext>
            </a:extLst>
          </p:cNvPr>
          <p:cNvSpPr txBox="1">
            <a:spLocks/>
          </p:cNvSpPr>
          <p:nvPr/>
        </p:nvSpPr>
        <p:spPr>
          <a:xfrm>
            <a:off x="203200" y="4737258"/>
            <a:ext cx="11714480" cy="1325563"/>
          </a:xfrm>
          <a:prstGeom prst="rect">
            <a:avLst/>
          </a:prstGeom>
        </p:spPr>
        <p:txBody>
          <a:bodyPr vert="horz" lIns="91440" tIns="45720" rIns="91440" bIns="45720" rtlCol="0" anchor="b">
            <a:normAutofit fontScale="55000" lnSpcReduction="20000"/>
            <a:scene3d>
              <a:camera prst="orthographicFront"/>
              <a:lightRig rig="soft" dir="t">
                <a:rot lat="0" lon="0" rev="15600000"/>
              </a:lightRig>
            </a:scene3d>
            <a:sp3d extrusionH="57150" prstMaterial="softEdge">
              <a:bevelT w="25400" h="38100"/>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tr-TR" sz="2900"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Student</a:t>
            </a:r>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tr-TR" sz="2900"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Number</a:t>
            </a:r>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19290302</a:t>
            </a:r>
          </a:p>
          <a:p>
            <a:pPr algn="just"/>
            <a:endPar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r>
              <a:rPr lang="tr-TR" sz="2900"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Student</a:t>
            </a:r>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Name </a:t>
            </a:r>
            <a:r>
              <a:rPr lang="tr-TR" sz="2900"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Surname</a:t>
            </a:r>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Ramazan DAĞHAN</a:t>
            </a:r>
          </a:p>
          <a:p>
            <a:pPr algn="just"/>
            <a:endPar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Advisor Name </a:t>
            </a:r>
            <a:r>
              <a:rPr lang="tr-TR" sz="2900"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Surname</a:t>
            </a:r>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GB" sz="2900" b="1" dirty="0">
                <a:solidFill>
                  <a:srgbClr val="E8E8E8"/>
                </a:solidFill>
                <a:latin typeface="Times New Roman" panose="02020603050405020304" pitchFamily="18" charset="0"/>
                <a:cs typeface="Times New Roman" panose="02020603050405020304" pitchFamily="18" charset="0"/>
              </a:rPr>
              <a:t>Asst. Prof. BEGÜM MUTLU BİLGE</a:t>
            </a:r>
          </a:p>
          <a:p>
            <a:pPr algn="just"/>
            <a:endParaRPr lang="tr-TR" sz="2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br>
              <a:rPr lang="en-GB" sz="800" dirty="0"/>
            </a:br>
            <a:endParaRPr lang="en-US" sz="2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2ADF1E78-5BA3-4DFB-9B71-F0FFCFB12C42}"/>
              </a:ext>
            </a:extLst>
          </p:cNvPr>
          <p:cNvSpPr txBox="1">
            <a:spLocks/>
          </p:cNvSpPr>
          <p:nvPr/>
        </p:nvSpPr>
        <p:spPr>
          <a:xfrm>
            <a:off x="1725597" y="643730"/>
            <a:ext cx="8900604" cy="1325563"/>
          </a:xfrm>
          <a:prstGeom prst="rect">
            <a:avLst/>
          </a:prstGeom>
        </p:spPr>
        <p:txBody>
          <a:bodyPr vert="horz" lIns="91440" tIns="45720" rIns="91440" bIns="45720" rtlCol="0" anchor="b">
            <a:normAutofit/>
            <a:scene3d>
              <a:camera prst="orthographicFront"/>
              <a:lightRig rig="soft" dir="t">
                <a:rot lat="0" lon="0" rev="15600000"/>
              </a:lightRig>
            </a:scene3d>
            <a:sp3d extrusionH="57150" prstMaterial="softEdge">
              <a:bevelT w="25400" h="38100"/>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4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ANKARA ÜNİVERSİTESİ</a:t>
            </a:r>
          </a:p>
          <a:p>
            <a:r>
              <a:rPr lang="tr-TR" sz="4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COMPUTER ENGINEERING</a:t>
            </a:r>
            <a:endParaRPr lang="en-US" sz="4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11E6D385-C399-4785-881C-62AB229B3A5B}"/>
              </a:ext>
            </a:extLst>
          </p:cNvPr>
          <p:cNvSpPr txBox="1">
            <a:spLocks/>
          </p:cNvSpPr>
          <p:nvPr/>
        </p:nvSpPr>
        <p:spPr>
          <a:xfrm>
            <a:off x="4009747" y="6062821"/>
            <a:ext cx="4172505" cy="702188"/>
          </a:xfrm>
          <a:prstGeom prst="rect">
            <a:avLst/>
          </a:prstGeom>
        </p:spPr>
        <p:txBody>
          <a:bodyPr vert="horz" lIns="91440" tIns="45720" rIns="91440" bIns="45720" rtlCol="0" anchor="b">
            <a:normAutofit/>
            <a:scene3d>
              <a:camera prst="orthographicFront"/>
              <a:lightRig rig="soft" dir="t">
                <a:rot lat="0" lon="0" rev="15600000"/>
              </a:lightRig>
            </a:scene3d>
            <a:sp3d extrusionH="57150" prstMaterial="softEdge">
              <a:bevelT w="25400" h="38100"/>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Ankara, 06.2025</a:t>
            </a:r>
          </a:p>
        </p:txBody>
      </p:sp>
    </p:spTree>
    <p:extLst>
      <p:ext uri="{BB962C8B-B14F-4D97-AF65-F5344CB8AC3E}">
        <p14:creationId xmlns:p14="http://schemas.microsoft.com/office/powerpoint/2010/main" val="3744078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914400"/>
            <a:ext cx="8900604" cy="776288"/>
          </a:xfrm>
        </p:spPr>
        <p:txBody>
          <a:bodyPr>
            <a:normAutofit/>
            <a:scene3d>
              <a:camera prst="orthographicFront"/>
              <a:lightRig rig="soft" dir="t">
                <a:rot lat="0" lon="0" rev="15600000"/>
              </a:lightRig>
            </a:scene3d>
            <a:sp3d extrusionH="57150" prstMaterial="softEdge">
              <a:bevelT w="25400" h="38100"/>
            </a:sp3d>
          </a:bodyPr>
          <a:lstStyle/>
          <a:p>
            <a:r>
              <a:rPr lang="en-GB" sz="3000" b="1" i="0" dirty="0">
                <a:solidFill>
                  <a:schemeClr val="bg1"/>
                </a:solidFill>
                <a:effectLst/>
                <a:latin typeface="quote-cjk-patch"/>
              </a:rPr>
              <a:t>TABLE OF CONTENTS</a:t>
            </a:r>
            <a:endParaRPr lang="en-US" sz="3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640935" y="2042445"/>
            <a:ext cx="10712865" cy="4101982"/>
          </a:xfrm>
        </p:spPr>
        <p:txBody>
          <a:bodyPr>
            <a:noAutofit/>
          </a:bodyPr>
          <a:lstStyle/>
          <a:p>
            <a:pPr algn="l">
              <a:buFont typeface="+mj-lt"/>
              <a:buAutoNum type="arabicPeriod"/>
            </a:pPr>
            <a:r>
              <a:rPr lang="en-GB" sz="1500" b="0" i="0" dirty="0">
                <a:solidFill>
                  <a:srgbClr val="404040"/>
                </a:solidFill>
                <a:effectLst/>
                <a:latin typeface="quote-cjk-patch"/>
              </a:rPr>
              <a:t>INTRODUCTION</a:t>
            </a:r>
            <a:br>
              <a:rPr lang="en-GB" sz="1500" b="0" i="0" dirty="0">
                <a:solidFill>
                  <a:srgbClr val="404040"/>
                </a:solidFill>
                <a:effectLst/>
                <a:latin typeface="quote-cjk-patch"/>
              </a:rPr>
            </a:br>
            <a:r>
              <a:rPr lang="tr-TR" sz="1500" b="0" i="0" dirty="0">
                <a:solidFill>
                  <a:srgbClr val="404040"/>
                </a:solidFill>
                <a:effectLst/>
                <a:latin typeface="quote-cjk-patch"/>
              </a:rPr>
              <a:t>	</a:t>
            </a:r>
            <a:r>
              <a:rPr lang="en-GB" sz="1500" b="0" i="0" dirty="0">
                <a:solidFill>
                  <a:srgbClr val="404040"/>
                </a:solidFill>
                <a:effectLst/>
                <a:latin typeface="quote-cjk-patch"/>
              </a:rPr>
              <a:t>1.1. Problem Definition</a:t>
            </a:r>
            <a:br>
              <a:rPr lang="en-GB" sz="1500" b="0" i="0" dirty="0">
                <a:solidFill>
                  <a:srgbClr val="404040"/>
                </a:solidFill>
                <a:effectLst/>
                <a:latin typeface="quote-cjk-patch"/>
              </a:rPr>
            </a:br>
            <a:r>
              <a:rPr lang="tr-TR" sz="1500" b="0" i="0" dirty="0">
                <a:solidFill>
                  <a:srgbClr val="404040"/>
                </a:solidFill>
                <a:effectLst/>
                <a:latin typeface="quote-cjk-patch"/>
              </a:rPr>
              <a:t>	</a:t>
            </a:r>
            <a:r>
              <a:rPr lang="en-GB" sz="1500" b="0" i="0" dirty="0">
                <a:solidFill>
                  <a:srgbClr val="404040"/>
                </a:solidFill>
                <a:effectLst/>
                <a:latin typeface="quote-cjk-patch"/>
              </a:rPr>
              <a:t>1.2. Project Description</a:t>
            </a:r>
          </a:p>
          <a:p>
            <a:pPr algn="l">
              <a:buFont typeface="+mj-lt"/>
              <a:buAutoNum type="arabicPeriod"/>
            </a:pPr>
            <a:r>
              <a:rPr lang="en-GB" sz="1500" b="0" i="0" dirty="0">
                <a:solidFill>
                  <a:srgbClr val="404040"/>
                </a:solidFill>
                <a:effectLst/>
                <a:latin typeface="quote-cjk-patch"/>
              </a:rPr>
              <a:t>LITERATURE</a:t>
            </a:r>
            <a:br>
              <a:rPr lang="en-GB" sz="1500" b="0" i="0" dirty="0">
                <a:solidFill>
                  <a:srgbClr val="404040"/>
                </a:solidFill>
                <a:effectLst/>
                <a:latin typeface="quote-cjk-patch"/>
              </a:rPr>
            </a:br>
            <a:r>
              <a:rPr lang="tr-TR" sz="1500" b="0" i="0" dirty="0">
                <a:solidFill>
                  <a:srgbClr val="404040"/>
                </a:solidFill>
                <a:effectLst/>
                <a:latin typeface="quote-cjk-patch"/>
              </a:rPr>
              <a:t>	</a:t>
            </a:r>
            <a:r>
              <a:rPr lang="en-GB" sz="1500" b="0" i="0" dirty="0">
                <a:solidFill>
                  <a:srgbClr val="404040"/>
                </a:solidFill>
                <a:effectLst/>
                <a:latin typeface="quote-cjk-patch"/>
              </a:rPr>
              <a:t>2.1. Previous Work in Mental Health AI</a:t>
            </a:r>
            <a:br>
              <a:rPr lang="en-GB" sz="1500" b="0" i="0" dirty="0">
                <a:solidFill>
                  <a:srgbClr val="404040"/>
                </a:solidFill>
                <a:effectLst/>
                <a:latin typeface="quote-cjk-patch"/>
              </a:rPr>
            </a:br>
            <a:r>
              <a:rPr lang="tr-TR" sz="1500" b="0" i="0" dirty="0">
                <a:solidFill>
                  <a:srgbClr val="404040"/>
                </a:solidFill>
                <a:effectLst/>
                <a:latin typeface="quote-cjk-patch"/>
              </a:rPr>
              <a:t>	</a:t>
            </a:r>
            <a:r>
              <a:rPr lang="en-GB" sz="1500" b="0" i="0" dirty="0">
                <a:solidFill>
                  <a:srgbClr val="404040"/>
                </a:solidFill>
                <a:effectLst/>
                <a:latin typeface="quote-cjk-patch"/>
              </a:rPr>
              <a:t>2.2. Advances in Language Model Fine-Tuning</a:t>
            </a:r>
          </a:p>
          <a:p>
            <a:pPr algn="l">
              <a:buFont typeface="+mj-lt"/>
              <a:buAutoNum type="arabicPeriod"/>
            </a:pPr>
            <a:r>
              <a:rPr lang="en-GB" sz="1500" b="0" i="0" dirty="0">
                <a:solidFill>
                  <a:srgbClr val="404040"/>
                </a:solidFill>
                <a:effectLst/>
                <a:latin typeface="quote-cjk-patch"/>
              </a:rPr>
              <a:t>MATERIALS AND METHODS</a:t>
            </a:r>
            <a:br>
              <a:rPr lang="en-GB" sz="1500" b="0" i="0" dirty="0">
                <a:solidFill>
                  <a:srgbClr val="404040"/>
                </a:solidFill>
                <a:effectLst/>
                <a:latin typeface="quote-cjk-patch"/>
              </a:rPr>
            </a:br>
            <a:r>
              <a:rPr lang="tr-TR" sz="1500" b="0" i="0" dirty="0">
                <a:solidFill>
                  <a:srgbClr val="404040"/>
                </a:solidFill>
                <a:effectLst/>
                <a:latin typeface="quote-cjk-patch"/>
              </a:rPr>
              <a:t>	</a:t>
            </a:r>
            <a:r>
              <a:rPr lang="en-GB" sz="1500" b="0" i="0" dirty="0">
                <a:solidFill>
                  <a:srgbClr val="404040"/>
                </a:solidFill>
                <a:effectLst/>
                <a:latin typeface="quote-cjk-patch"/>
              </a:rPr>
              <a:t>3.1. Materials</a:t>
            </a:r>
            <a:br>
              <a:rPr lang="en-GB" sz="1500" b="0" i="0" dirty="0">
                <a:solidFill>
                  <a:srgbClr val="404040"/>
                </a:solidFill>
                <a:effectLst/>
                <a:latin typeface="quote-cjk-patch"/>
              </a:rPr>
            </a:br>
            <a:r>
              <a:rPr lang="tr-TR" sz="1500" b="0" i="0" dirty="0">
                <a:solidFill>
                  <a:srgbClr val="404040"/>
                </a:solidFill>
                <a:effectLst/>
                <a:latin typeface="quote-cjk-patch"/>
              </a:rPr>
              <a:t>	</a:t>
            </a:r>
            <a:r>
              <a:rPr lang="en-GB" sz="1500" b="0" i="0" dirty="0">
                <a:solidFill>
                  <a:srgbClr val="404040"/>
                </a:solidFill>
                <a:effectLst/>
                <a:latin typeface="quote-cjk-patch"/>
              </a:rPr>
              <a:t>3.2. Methods</a:t>
            </a:r>
          </a:p>
          <a:p>
            <a:pPr algn="l">
              <a:buFont typeface="+mj-lt"/>
              <a:buAutoNum type="arabicPeriod"/>
            </a:pPr>
            <a:r>
              <a:rPr lang="en-GB" sz="1500" b="0" i="0" dirty="0">
                <a:solidFill>
                  <a:srgbClr val="404040"/>
                </a:solidFill>
                <a:effectLst/>
                <a:latin typeface="quote-cjk-patch"/>
              </a:rPr>
              <a:t>APPLICATION</a:t>
            </a:r>
            <a:br>
              <a:rPr lang="en-GB" sz="1500" b="0" i="0" dirty="0">
                <a:solidFill>
                  <a:srgbClr val="404040"/>
                </a:solidFill>
                <a:effectLst/>
                <a:latin typeface="quote-cjk-patch"/>
              </a:rPr>
            </a:br>
            <a:r>
              <a:rPr lang="tr-TR" sz="1500" b="0" i="0" dirty="0">
                <a:solidFill>
                  <a:srgbClr val="404040"/>
                </a:solidFill>
                <a:effectLst/>
                <a:latin typeface="quote-cjk-patch"/>
              </a:rPr>
              <a:t>	</a:t>
            </a:r>
            <a:r>
              <a:rPr lang="en-GB" sz="1500" b="0" i="0" dirty="0">
                <a:solidFill>
                  <a:srgbClr val="404040"/>
                </a:solidFill>
                <a:effectLst/>
                <a:latin typeface="quote-cjk-patch"/>
              </a:rPr>
              <a:t>4.1. Dataset Splitting</a:t>
            </a:r>
            <a:br>
              <a:rPr lang="en-GB" sz="1500" b="0" i="0" dirty="0">
                <a:solidFill>
                  <a:srgbClr val="404040"/>
                </a:solidFill>
                <a:effectLst/>
                <a:latin typeface="quote-cjk-patch"/>
              </a:rPr>
            </a:br>
            <a:r>
              <a:rPr lang="tr-TR" sz="1500" b="0" i="0" dirty="0">
                <a:solidFill>
                  <a:srgbClr val="404040"/>
                </a:solidFill>
                <a:effectLst/>
                <a:latin typeface="quote-cjk-patch"/>
              </a:rPr>
              <a:t>	</a:t>
            </a:r>
            <a:r>
              <a:rPr lang="en-GB" sz="1500" b="0" i="0" dirty="0">
                <a:solidFill>
                  <a:srgbClr val="404040"/>
                </a:solidFill>
                <a:effectLst/>
                <a:latin typeface="quote-cjk-patch"/>
              </a:rPr>
              <a:t>4.2. Fine-Tuning Process</a:t>
            </a:r>
            <a:br>
              <a:rPr lang="en-GB" sz="1500" b="0" i="0" dirty="0">
                <a:solidFill>
                  <a:srgbClr val="404040"/>
                </a:solidFill>
                <a:effectLst/>
                <a:latin typeface="quote-cjk-patch"/>
              </a:rPr>
            </a:br>
            <a:r>
              <a:rPr lang="tr-TR" sz="1500" b="0" i="0" dirty="0">
                <a:solidFill>
                  <a:srgbClr val="404040"/>
                </a:solidFill>
                <a:effectLst/>
                <a:latin typeface="quote-cjk-patch"/>
              </a:rPr>
              <a:t>	</a:t>
            </a:r>
            <a:r>
              <a:rPr lang="en-GB" sz="1500" b="0" i="0" dirty="0">
                <a:solidFill>
                  <a:srgbClr val="404040"/>
                </a:solidFill>
                <a:effectLst/>
                <a:latin typeface="quote-cjk-patch"/>
              </a:rPr>
              <a:t>4.3. Response Generation</a:t>
            </a:r>
            <a:br>
              <a:rPr lang="en-GB" sz="1500" b="0" i="0" dirty="0">
                <a:solidFill>
                  <a:srgbClr val="404040"/>
                </a:solidFill>
                <a:effectLst/>
                <a:latin typeface="quote-cjk-patch"/>
              </a:rPr>
            </a:br>
            <a:r>
              <a:rPr lang="tr-TR" sz="1500" b="0" i="0" dirty="0">
                <a:solidFill>
                  <a:srgbClr val="404040"/>
                </a:solidFill>
                <a:effectLst/>
                <a:latin typeface="quote-cjk-patch"/>
              </a:rPr>
              <a:t>	</a:t>
            </a:r>
            <a:r>
              <a:rPr lang="en-GB" sz="1500" b="0" i="0" dirty="0">
                <a:solidFill>
                  <a:srgbClr val="404040"/>
                </a:solidFill>
                <a:effectLst/>
                <a:latin typeface="quote-cjk-patch"/>
              </a:rPr>
              <a:t>4.4. System Prompts</a:t>
            </a:r>
          </a:p>
          <a:p>
            <a:pPr algn="l">
              <a:buFont typeface="+mj-lt"/>
              <a:buAutoNum type="arabicPeriod"/>
            </a:pPr>
            <a:r>
              <a:rPr lang="en-GB" sz="1500" b="0" i="0" dirty="0">
                <a:solidFill>
                  <a:srgbClr val="404040"/>
                </a:solidFill>
                <a:effectLst/>
                <a:latin typeface="quote-cjk-patch"/>
              </a:rPr>
              <a:t>CONCLUSION</a:t>
            </a:r>
          </a:p>
          <a:p>
            <a:pPr marL="0" indent="0" algn="l">
              <a:buNone/>
            </a:pPr>
            <a:r>
              <a:rPr lang="en-GB" sz="1500" b="0" i="0" dirty="0">
                <a:solidFill>
                  <a:srgbClr val="404040"/>
                </a:solidFill>
                <a:effectLst/>
                <a:latin typeface="quote-cjk-patch"/>
              </a:rPr>
              <a:t>REFERENCES</a:t>
            </a:r>
          </a:p>
        </p:txBody>
      </p:sp>
    </p:spTree>
    <p:extLst>
      <p:ext uri="{BB962C8B-B14F-4D97-AF65-F5344CB8AC3E}">
        <p14:creationId xmlns:p14="http://schemas.microsoft.com/office/powerpoint/2010/main" val="4173145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365125"/>
            <a:ext cx="8900604" cy="1325563"/>
          </a:xfrm>
        </p:spPr>
        <p:txBody>
          <a:bodyPr>
            <a:normAutofit/>
            <a:scene3d>
              <a:camera prst="orthographicFront"/>
              <a:lightRig rig="soft" dir="t">
                <a:rot lat="0" lon="0" rev="15600000"/>
              </a:lightRig>
            </a:scene3d>
            <a:sp3d extrusionH="57150" prstMaterial="softEdge">
              <a:bevelT w="25400" h="38100"/>
            </a:sp3d>
          </a:bodyPr>
          <a:lstStyle/>
          <a:p>
            <a:pPr algn="just"/>
            <a:r>
              <a:rPr lang="tr-TR"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 INTRODUCTION</a:t>
            </a: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838200" y="2225675"/>
            <a:ext cx="10515600" cy="4351338"/>
          </a:xfrm>
        </p:spPr>
        <p:txBody>
          <a:bodyPr>
            <a:normAutofit/>
          </a:bodyPr>
          <a:lstStyle/>
          <a:p>
            <a:pPr marL="0" indent="0" algn="just">
              <a:spcAft>
                <a:spcPts val="1200"/>
              </a:spcAft>
              <a:buNone/>
            </a:pPr>
            <a:r>
              <a:rPr lang="tr-TR" sz="2400" b="1" dirty="0">
                <a:latin typeface="Times New Roman" panose="02020603050405020304" pitchFamily="18" charset="0"/>
                <a:cs typeface="Times New Roman" panose="02020603050405020304" pitchFamily="18" charset="0"/>
              </a:rPr>
              <a:t>1.1. Problem Definition</a:t>
            </a:r>
          </a:p>
          <a:p>
            <a:pPr algn="just">
              <a:spcAft>
                <a:spcPts val="1800"/>
              </a:spcAft>
            </a:pPr>
            <a:r>
              <a:rPr lang="en-GB" sz="1800" dirty="0">
                <a:latin typeface="Times New Roman" panose="02020603050405020304" pitchFamily="18" charset="0"/>
                <a:cs typeface="Times New Roman" panose="02020603050405020304" pitchFamily="18" charset="0"/>
              </a:rPr>
              <a:t>Mental health support is often limited by cost, stigma, and access. Many people do not receive timely emotional help. While large language models (LLMs) show strong performance in general NLP tasks, they need domain-specific tuning to generate compassionate and safe responses for mental health use cases.</a:t>
            </a:r>
            <a:r>
              <a:rPr lang="en-US" sz="1800" dirty="0">
                <a:latin typeface="Times New Roman" panose="02020603050405020304" pitchFamily="18" charset="0"/>
                <a:cs typeface="Times New Roman" panose="02020603050405020304" pitchFamily="18" charset="0"/>
              </a:rPr>
              <a:t> </a:t>
            </a:r>
            <a:endParaRPr lang="tr-TR" sz="1800" dirty="0">
              <a:latin typeface="Times New Roman" panose="02020603050405020304" pitchFamily="18" charset="0"/>
              <a:cs typeface="Times New Roman" panose="02020603050405020304" pitchFamily="18" charset="0"/>
            </a:endParaRPr>
          </a:p>
          <a:p>
            <a:pPr marL="0" indent="0" algn="just">
              <a:spcAft>
                <a:spcPts val="1200"/>
              </a:spcAft>
              <a:buNone/>
            </a:pPr>
            <a:r>
              <a:rPr lang="en-US" sz="2400" b="1" dirty="0">
                <a:latin typeface="Times New Roman" panose="02020603050405020304" pitchFamily="18" charset="0"/>
                <a:cs typeface="Times New Roman" panose="02020603050405020304" pitchFamily="18" charset="0"/>
              </a:rPr>
              <a:t>1.</a:t>
            </a:r>
            <a:r>
              <a:rPr lang="tr-TR" sz="2400" b="1"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a:t>
            </a:r>
            <a:r>
              <a:rPr lang="en-GB" sz="2400" b="1" dirty="0">
                <a:latin typeface="Times New Roman" panose="02020603050405020304" pitchFamily="18" charset="0"/>
                <a:cs typeface="Times New Roman" panose="02020603050405020304" pitchFamily="18" charset="0"/>
              </a:rPr>
              <a:t>Project Description</a:t>
            </a:r>
            <a:endParaRPr lang="en-US" sz="2400" b="1" dirty="0">
              <a:latin typeface="Times New Roman" panose="02020603050405020304" pitchFamily="18" charset="0"/>
              <a:cs typeface="Times New Roman" panose="02020603050405020304" pitchFamily="18" charset="0"/>
            </a:endParaRPr>
          </a:p>
          <a:p>
            <a:pPr algn="just"/>
            <a:r>
              <a:rPr lang="en-GB" sz="1800" dirty="0">
                <a:latin typeface="Times New Roman" panose="02020603050405020304" pitchFamily="18" charset="0"/>
                <a:cs typeface="Times New Roman" panose="02020603050405020304" pitchFamily="18" charset="0"/>
              </a:rPr>
              <a:t>This project aims to fine-tune LLMs—Nous Hermes 2 (Mistral 7B) and </a:t>
            </a:r>
            <a:r>
              <a:rPr lang="en-GB" sz="1800" dirty="0" err="1">
                <a:latin typeface="Times New Roman" panose="02020603050405020304" pitchFamily="18" charset="0"/>
                <a:cs typeface="Times New Roman" panose="02020603050405020304" pitchFamily="18" charset="0"/>
              </a:rPr>
              <a:t>LLaMA</a:t>
            </a:r>
            <a:r>
              <a:rPr lang="en-GB" sz="1800" dirty="0">
                <a:latin typeface="Times New Roman" panose="02020603050405020304" pitchFamily="18" charset="0"/>
                <a:cs typeface="Times New Roman" panose="02020603050405020304" pitchFamily="18" charset="0"/>
              </a:rPr>
              <a:t> 3 (8B Instruct)—to act as empathetic mental health chatbots. Using carefully prepared datasets, the models are trained to provide supportive and non-judgmental responses. Performance is evaluated with BLEU and </a:t>
            </a:r>
            <a:r>
              <a:rPr lang="en-GB" sz="1800" dirty="0" err="1">
                <a:latin typeface="Times New Roman" panose="02020603050405020304" pitchFamily="18" charset="0"/>
                <a:cs typeface="Times New Roman" panose="02020603050405020304" pitchFamily="18" charset="0"/>
              </a:rPr>
              <a:t>BERTScore</a:t>
            </a:r>
            <a:r>
              <a:rPr lang="en-GB" sz="1800" dirty="0">
                <a:latin typeface="Times New Roman" panose="02020603050405020304" pitchFamily="18" charset="0"/>
                <a:cs typeface="Times New Roman" panose="02020603050405020304" pitchFamily="18" charset="0"/>
              </a:rPr>
              <a:t> metrics.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3552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365125"/>
            <a:ext cx="8900604" cy="1325563"/>
          </a:xfrm>
        </p:spPr>
        <p:txBody>
          <a:bodyPr>
            <a:normAutofit/>
            <a:scene3d>
              <a:camera prst="orthographicFront"/>
              <a:lightRig rig="soft" dir="t">
                <a:rot lat="0" lon="0" rev="15600000"/>
              </a:lightRig>
            </a:scene3d>
            <a:sp3d extrusionH="57150" prstMaterial="softEdge">
              <a:bevelT w="25400" h="38100"/>
            </a:sp3d>
          </a:bodyPr>
          <a:lstStyle/>
          <a:p>
            <a:pPr algn="just"/>
            <a:r>
              <a:rPr lang="tr-TR"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 </a:t>
            </a:r>
            <a:r>
              <a:rPr lang="en-GB" sz="4800" i="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LITERATURE</a:t>
            </a: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838200" y="2225675"/>
            <a:ext cx="7840579" cy="4351338"/>
          </a:xfrm>
        </p:spPr>
        <p:txBody>
          <a:bodyPr>
            <a:normAutofit/>
          </a:bodyPr>
          <a:lstStyle/>
          <a:p>
            <a:pPr marL="0" indent="0" algn="just">
              <a:spcAft>
                <a:spcPts val="1200"/>
              </a:spcAft>
              <a:buNone/>
            </a:pPr>
            <a:r>
              <a:rPr lang="tr-TR" sz="2400" b="1" dirty="0">
                <a:latin typeface="Times New Roman" panose="02020603050405020304" pitchFamily="18" charset="0"/>
                <a:cs typeface="Times New Roman" panose="02020603050405020304" pitchFamily="18" charset="0"/>
              </a:rPr>
              <a:t>2.1. </a:t>
            </a:r>
            <a:r>
              <a:rPr lang="en-GB" sz="2400" b="1" dirty="0">
                <a:latin typeface="Times New Roman" panose="02020603050405020304" pitchFamily="18" charset="0"/>
                <a:cs typeface="Times New Roman" panose="02020603050405020304" pitchFamily="18" charset="0"/>
              </a:rPr>
              <a:t>Evolution of Mental Health Services</a:t>
            </a:r>
            <a:endParaRPr lang="tr-TR" sz="2400" b="1" dirty="0">
              <a:latin typeface="Times New Roman" panose="02020603050405020304" pitchFamily="18" charset="0"/>
              <a:cs typeface="Times New Roman" panose="02020603050405020304" pitchFamily="18" charset="0"/>
            </a:endParaRPr>
          </a:p>
          <a:p>
            <a:pPr marL="0" indent="0" algn="just">
              <a:spcAft>
                <a:spcPts val="1200"/>
              </a:spcAft>
              <a:buNone/>
            </a:pPr>
            <a:r>
              <a:rPr lang="en-GB" sz="1800" b="1" dirty="0">
                <a:latin typeface="Times New Roman" panose="02020603050405020304" pitchFamily="18" charset="0"/>
                <a:cs typeface="Times New Roman" panose="02020603050405020304" pitchFamily="18" charset="0"/>
              </a:rPr>
              <a:t>Pre-digital era:</a:t>
            </a:r>
            <a:r>
              <a:rPr lang="en-GB" sz="1800" dirty="0">
                <a:latin typeface="Times New Roman" panose="02020603050405020304" pitchFamily="18" charset="0"/>
                <a:cs typeface="Times New Roman" panose="02020603050405020304" pitchFamily="18" charset="0"/>
              </a:rPr>
              <a:t> Mental health support was traditionally limited to in-person therapy and phone-based helplines. </a:t>
            </a:r>
            <a:endParaRPr lang="tr-TR" sz="1800" dirty="0">
              <a:latin typeface="Times New Roman" panose="02020603050405020304" pitchFamily="18" charset="0"/>
              <a:cs typeface="Times New Roman" panose="02020603050405020304" pitchFamily="18" charset="0"/>
            </a:endParaRPr>
          </a:p>
          <a:p>
            <a:pPr marL="0" indent="0" algn="just">
              <a:spcAft>
                <a:spcPts val="1200"/>
              </a:spcAft>
              <a:buNone/>
            </a:pPr>
            <a:r>
              <a:rPr lang="en-GB" sz="1800" b="1" dirty="0">
                <a:latin typeface="Times New Roman" panose="02020603050405020304" pitchFamily="18" charset="0"/>
                <a:cs typeface="Times New Roman" panose="02020603050405020304" pitchFamily="18" charset="0"/>
              </a:rPr>
              <a:t>Early digital transformation (2000s):</a:t>
            </a:r>
            <a:r>
              <a:rPr lang="en-GB" sz="1800" dirty="0">
                <a:latin typeface="Times New Roman" panose="02020603050405020304" pitchFamily="18" charset="0"/>
                <a:cs typeface="Times New Roman" panose="02020603050405020304" pitchFamily="18" charset="0"/>
              </a:rPr>
              <a:t> Rise of mental health forums, blogs, and informational websites (e.g., WebMD, </a:t>
            </a:r>
            <a:r>
              <a:rPr lang="en-GB" sz="1800" dirty="0" err="1">
                <a:latin typeface="Times New Roman" panose="02020603050405020304" pitchFamily="18" charset="0"/>
                <a:cs typeface="Times New Roman" panose="02020603050405020304" pitchFamily="18" charset="0"/>
              </a:rPr>
              <a:t>PsychCentral</a:t>
            </a:r>
            <a:r>
              <a:rPr lang="en-GB" sz="1800" dirty="0">
                <a:latin typeface="Times New Roman" panose="02020603050405020304" pitchFamily="18" charset="0"/>
                <a:cs typeface="Times New Roman" panose="02020603050405020304" pitchFamily="18" charset="0"/>
              </a:rPr>
              <a:t>).</a:t>
            </a:r>
            <a:endParaRPr lang="tr-TR" sz="1800" dirty="0">
              <a:latin typeface="Times New Roman" panose="02020603050405020304" pitchFamily="18" charset="0"/>
              <a:cs typeface="Times New Roman" panose="02020603050405020304" pitchFamily="18" charset="0"/>
            </a:endParaRPr>
          </a:p>
          <a:p>
            <a:pPr marL="0" indent="0" algn="just">
              <a:spcAft>
                <a:spcPts val="1200"/>
              </a:spcAft>
              <a:buNone/>
            </a:pPr>
            <a:r>
              <a:rPr lang="en-GB" sz="1800" b="1" dirty="0">
                <a:latin typeface="Times New Roman" panose="02020603050405020304" pitchFamily="18" charset="0"/>
                <a:cs typeface="Times New Roman" panose="02020603050405020304" pitchFamily="18" charset="0"/>
              </a:rPr>
              <a:t>Mobile era:</a:t>
            </a:r>
            <a:r>
              <a:rPr lang="en-GB" sz="1800" dirty="0">
                <a:latin typeface="Times New Roman" panose="02020603050405020304" pitchFamily="18" charset="0"/>
                <a:cs typeface="Times New Roman" panose="02020603050405020304" pitchFamily="18" charset="0"/>
              </a:rPr>
              <a:t> Introduction of mental health apps (e.g., Calm, </a:t>
            </a:r>
            <a:r>
              <a:rPr lang="en-GB" sz="1800" dirty="0" err="1">
                <a:latin typeface="Times New Roman" panose="02020603050405020304" pitchFamily="18" charset="0"/>
                <a:cs typeface="Times New Roman" panose="02020603050405020304" pitchFamily="18" charset="0"/>
              </a:rPr>
              <a:t>BetterHelp</a:t>
            </a:r>
            <a:r>
              <a:rPr lang="en-GB" sz="1800" dirty="0">
                <a:latin typeface="Times New Roman" panose="02020603050405020304" pitchFamily="18" charset="0"/>
                <a:cs typeface="Times New Roman" panose="02020603050405020304" pitchFamily="18" charset="0"/>
              </a:rPr>
              <a:t>), offering self-guided therapy, meditation, and live </a:t>
            </a:r>
            <a:r>
              <a:rPr lang="en-GB" sz="1800" dirty="0" err="1">
                <a:latin typeface="Times New Roman" panose="02020603050405020304" pitchFamily="18" charset="0"/>
                <a:cs typeface="Times New Roman" panose="02020603050405020304" pitchFamily="18" charset="0"/>
              </a:rPr>
              <a:t>counselor</a:t>
            </a:r>
            <a:r>
              <a:rPr lang="en-GB" sz="1800" dirty="0">
                <a:latin typeface="Times New Roman" panose="02020603050405020304" pitchFamily="18" charset="0"/>
                <a:cs typeface="Times New Roman" panose="02020603050405020304" pitchFamily="18" charset="0"/>
              </a:rPr>
              <a:t> access.</a:t>
            </a:r>
            <a:endParaRPr lang="tr-TR"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858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838200" y="2225675"/>
            <a:ext cx="7760368" cy="4351338"/>
          </a:xfrm>
        </p:spPr>
        <p:txBody>
          <a:bodyPr>
            <a:normAutofit/>
          </a:bodyPr>
          <a:lstStyle/>
          <a:p>
            <a:pPr marL="0" indent="0" algn="just">
              <a:spcAft>
                <a:spcPts val="1200"/>
              </a:spcAft>
              <a:buNone/>
            </a:pPr>
            <a:r>
              <a:rPr lang="tr-TR" sz="2400" b="1"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a:t>
            </a:r>
            <a:r>
              <a:rPr lang="tr-TR" sz="2400" b="1"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a:t>
            </a:r>
            <a:r>
              <a:rPr lang="en-GB" sz="2400" b="1" dirty="0">
                <a:latin typeface="Times New Roman" panose="02020603050405020304" pitchFamily="18" charset="0"/>
                <a:cs typeface="Times New Roman" panose="02020603050405020304" pitchFamily="18" charset="0"/>
              </a:rPr>
              <a:t>Rise of Conversational AI in Healthcare</a:t>
            </a:r>
            <a:endParaRPr lang="en-US" sz="2400" b="1" dirty="0">
              <a:latin typeface="Times New Roman" panose="02020603050405020304" pitchFamily="18" charset="0"/>
              <a:cs typeface="Times New Roman" panose="02020603050405020304" pitchFamily="18" charset="0"/>
            </a:endParaRPr>
          </a:p>
          <a:p>
            <a:pPr algn="just"/>
            <a:r>
              <a:rPr lang="en-GB" sz="1800" b="1" dirty="0">
                <a:latin typeface="Times New Roman" panose="02020603050405020304" pitchFamily="18" charset="0"/>
                <a:cs typeface="Times New Roman" panose="02020603050405020304" pitchFamily="18" charset="0"/>
              </a:rPr>
              <a:t>2015–2020:</a:t>
            </a:r>
            <a:r>
              <a:rPr lang="en-GB" sz="1800" dirty="0">
                <a:latin typeface="Times New Roman" panose="02020603050405020304" pitchFamily="18" charset="0"/>
                <a:cs typeface="Times New Roman" panose="02020603050405020304" pitchFamily="18" charset="0"/>
              </a:rPr>
              <a:t> Basic rule-based bots (e.g., </a:t>
            </a:r>
            <a:r>
              <a:rPr lang="en-GB" sz="1800" dirty="0" err="1">
                <a:latin typeface="Times New Roman" panose="02020603050405020304" pitchFamily="18" charset="0"/>
                <a:cs typeface="Times New Roman" panose="02020603050405020304" pitchFamily="18" charset="0"/>
              </a:rPr>
              <a:t>Woebot</a:t>
            </a:r>
            <a:r>
              <a:rPr lang="en-GB" sz="1800" dirty="0">
                <a:latin typeface="Times New Roman" panose="02020603050405020304" pitchFamily="18" charset="0"/>
                <a:cs typeface="Times New Roman" panose="02020603050405020304" pitchFamily="18" charset="0"/>
              </a:rPr>
              <a:t>, </a:t>
            </a:r>
            <a:r>
              <a:rPr lang="en-GB" sz="1800" dirty="0" err="1">
                <a:latin typeface="Times New Roman" panose="02020603050405020304" pitchFamily="18" charset="0"/>
                <a:cs typeface="Times New Roman" panose="02020603050405020304" pitchFamily="18" charset="0"/>
              </a:rPr>
              <a:t>Wysa</a:t>
            </a:r>
            <a:r>
              <a:rPr lang="en-GB" sz="1800" dirty="0">
                <a:latin typeface="Times New Roman" panose="02020603050405020304" pitchFamily="18" charset="0"/>
                <a:cs typeface="Times New Roman" panose="02020603050405020304" pitchFamily="18" charset="0"/>
              </a:rPr>
              <a:t>) emerged, using decision trees to guide users through scripted interactions. </a:t>
            </a:r>
            <a:endParaRPr lang="tr-TR" sz="1800" dirty="0">
              <a:latin typeface="Times New Roman" panose="02020603050405020304" pitchFamily="18" charset="0"/>
              <a:cs typeface="Times New Roman" panose="02020603050405020304" pitchFamily="18" charset="0"/>
            </a:endParaRPr>
          </a:p>
          <a:p>
            <a:pPr algn="just"/>
            <a:r>
              <a:rPr lang="en-GB" sz="1800" b="1" dirty="0">
                <a:latin typeface="Times New Roman" panose="02020603050405020304" pitchFamily="18" charset="0"/>
                <a:cs typeface="Times New Roman" panose="02020603050405020304" pitchFamily="18" charset="0"/>
              </a:rPr>
              <a:t>Post-2020:</a:t>
            </a:r>
            <a:r>
              <a:rPr lang="en-GB" sz="1800" dirty="0">
                <a:latin typeface="Times New Roman" panose="02020603050405020304" pitchFamily="18" charset="0"/>
                <a:cs typeface="Times New Roman" panose="02020603050405020304" pitchFamily="18" charset="0"/>
              </a:rPr>
              <a:t> Breakthroughs in large language models (LLMs) like GPT-3 and beyond enabled more flexible, human-like dialogue generation.</a:t>
            </a:r>
            <a:endParaRPr lang="tr-TR" sz="1800" dirty="0">
              <a:latin typeface="Times New Roman" panose="02020603050405020304" pitchFamily="18" charset="0"/>
              <a:cs typeface="Times New Roman" panose="02020603050405020304" pitchFamily="18" charset="0"/>
            </a:endParaRPr>
          </a:p>
          <a:p>
            <a:r>
              <a:rPr lang="en-GB" sz="1800" dirty="0">
                <a:latin typeface="Times New Roman" panose="02020603050405020304" pitchFamily="18" charset="0"/>
                <a:cs typeface="Times New Roman" panose="02020603050405020304" pitchFamily="18" charset="0"/>
              </a:rPr>
              <a:t>These models showed promise in</a:t>
            </a:r>
            <a:r>
              <a:rPr lang="en-GB" sz="1200" dirty="0"/>
              <a:t>:</a:t>
            </a:r>
          </a:p>
          <a:p>
            <a:pPr marL="0" indent="0">
              <a:buNone/>
            </a:pPr>
            <a:r>
              <a:rPr lang="tr-TR" sz="1200" b="1" dirty="0"/>
              <a:t>	</a:t>
            </a:r>
            <a:r>
              <a:rPr lang="tr-TR" sz="1500" dirty="0"/>
              <a:t>- </a:t>
            </a:r>
            <a:r>
              <a:rPr lang="en-GB" sz="1500" dirty="0"/>
              <a:t>Empathy simulation</a:t>
            </a:r>
          </a:p>
          <a:p>
            <a:pPr marL="0" indent="0">
              <a:buNone/>
            </a:pPr>
            <a:r>
              <a:rPr lang="tr-TR" sz="1500" dirty="0"/>
              <a:t>	- </a:t>
            </a:r>
            <a:r>
              <a:rPr lang="en-GB" sz="1500" dirty="0"/>
              <a:t>Context retention</a:t>
            </a:r>
          </a:p>
          <a:p>
            <a:pPr marL="0" indent="0">
              <a:buNone/>
            </a:pPr>
            <a:r>
              <a:rPr lang="tr-TR" sz="1500" dirty="0"/>
              <a:t>	- </a:t>
            </a:r>
            <a:r>
              <a:rPr lang="en-GB" sz="1500" dirty="0"/>
              <a:t>Natural language understanding</a:t>
            </a:r>
          </a:p>
          <a:p>
            <a:pPr algn="just"/>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050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838200" y="2225675"/>
            <a:ext cx="7760368" cy="4351338"/>
          </a:xfrm>
        </p:spPr>
        <p:txBody>
          <a:bodyPr>
            <a:normAutofit/>
          </a:bodyPr>
          <a:lstStyle/>
          <a:p>
            <a:pPr marL="0" indent="0" algn="just">
              <a:spcAft>
                <a:spcPts val="1200"/>
              </a:spcAft>
              <a:buNone/>
            </a:pPr>
            <a:r>
              <a:rPr lang="tr-TR" sz="2400" b="1"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a:t>
            </a:r>
            <a:r>
              <a:rPr lang="tr-TR" sz="2400" b="1" dirty="0">
                <a:latin typeface="Times New Roman" panose="02020603050405020304" pitchFamily="18" charset="0"/>
                <a:cs typeface="Times New Roman" panose="02020603050405020304" pitchFamily="18" charset="0"/>
              </a:rPr>
              <a:t>3</a:t>
            </a:r>
            <a:r>
              <a:rPr lang="en-US" sz="2400" b="1" dirty="0">
                <a:latin typeface="Times New Roman" panose="02020603050405020304" pitchFamily="18" charset="0"/>
                <a:cs typeface="Times New Roman" panose="02020603050405020304" pitchFamily="18" charset="0"/>
              </a:rPr>
              <a:t>. </a:t>
            </a:r>
            <a:r>
              <a:rPr lang="en-GB" sz="2400" b="1" dirty="0">
                <a:latin typeface="Times New Roman" panose="02020603050405020304" pitchFamily="18" charset="0"/>
                <a:cs typeface="Times New Roman" panose="02020603050405020304" pitchFamily="18" charset="0"/>
              </a:rPr>
              <a:t>Current Landscape</a:t>
            </a:r>
            <a:endParaRPr lang="en-US" sz="2400" b="1" dirty="0">
              <a:latin typeface="Times New Roman" panose="02020603050405020304" pitchFamily="18" charset="0"/>
              <a:cs typeface="Times New Roman" panose="02020603050405020304" pitchFamily="18" charset="0"/>
            </a:endParaRPr>
          </a:p>
          <a:p>
            <a:pPr algn="just"/>
            <a:r>
              <a:rPr lang="en-GB" sz="1800" b="1" dirty="0">
                <a:latin typeface="Times New Roman" panose="02020603050405020304" pitchFamily="18" charset="0"/>
                <a:cs typeface="Times New Roman" panose="02020603050405020304" pitchFamily="18" charset="0"/>
              </a:rPr>
              <a:t>Fine-tuning on domain-specific data</a:t>
            </a:r>
            <a:r>
              <a:rPr lang="en-GB" sz="1800" dirty="0">
                <a:latin typeface="Times New Roman" panose="02020603050405020304" pitchFamily="18" charset="0"/>
                <a:cs typeface="Times New Roman" panose="02020603050405020304" pitchFamily="18" charset="0"/>
              </a:rPr>
              <a:t> has become essential to make LLMs useful in sensitive contexts like mental health.</a:t>
            </a:r>
            <a:endParaRPr lang="tr-TR" sz="1800" dirty="0">
              <a:latin typeface="Times New Roman" panose="02020603050405020304" pitchFamily="18" charset="0"/>
              <a:cs typeface="Times New Roman" panose="02020603050405020304" pitchFamily="18" charset="0"/>
            </a:endParaRPr>
          </a:p>
          <a:p>
            <a:pPr algn="just"/>
            <a:r>
              <a:rPr lang="en-GB" sz="1800" b="1" dirty="0">
                <a:latin typeface="Times New Roman" panose="02020603050405020304" pitchFamily="18" charset="0"/>
                <a:cs typeface="Times New Roman" panose="02020603050405020304" pitchFamily="18" charset="0"/>
              </a:rPr>
              <a:t>Ethical concerns and safety:</a:t>
            </a:r>
            <a:r>
              <a:rPr lang="en-GB" sz="1800" dirty="0">
                <a:latin typeface="Times New Roman" panose="02020603050405020304" pitchFamily="18" charset="0"/>
                <a:cs typeface="Times New Roman" panose="02020603050405020304" pitchFamily="18" charset="0"/>
              </a:rPr>
              <a:t> High demand for models that are not only fluent, but also aligned with therapeutic best practices.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3124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365125"/>
            <a:ext cx="8900604" cy="1325563"/>
          </a:xfrm>
        </p:spPr>
        <p:txBody>
          <a:bodyPr>
            <a:normAutofit/>
            <a:scene3d>
              <a:camera prst="orthographicFront"/>
              <a:lightRig rig="soft" dir="t">
                <a:rot lat="0" lon="0" rev="15600000"/>
              </a:lightRig>
            </a:scene3d>
            <a:sp3d extrusionH="57150" prstMaterial="softEdge">
              <a:bevelT w="25400" h="38100"/>
            </a:sp3d>
          </a:bodyPr>
          <a:lstStyle/>
          <a:p>
            <a:pPr algn="just"/>
            <a:r>
              <a:rPr lang="tr-TR"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a:t>
            </a:r>
            <a:r>
              <a:rPr lang="en-GB" sz="4500" dirty="0">
                <a:solidFill>
                  <a:schemeClr val="bg1"/>
                </a:solidFill>
                <a:latin typeface="Times New Roman" panose="02020603050405020304" pitchFamily="18" charset="0"/>
                <a:cs typeface="Times New Roman" panose="02020603050405020304" pitchFamily="18" charset="0"/>
              </a:rPr>
              <a:t>MATERIALS AND METHODS</a:t>
            </a: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838200" y="2225675"/>
            <a:ext cx="4434555" cy="4351338"/>
          </a:xfrm>
        </p:spPr>
        <p:txBody>
          <a:bodyPr>
            <a:normAutofit/>
          </a:bodyPr>
          <a:lstStyle/>
          <a:p>
            <a:pPr marL="0" indent="0" algn="just">
              <a:spcAft>
                <a:spcPts val="1200"/>
              </a:spcAft>
              <a:buNone/>
            </a:pPr>
            <a:r>
              <a:rPr lang="tr-TR" sz="2400" b="1" dirty="0">
                <a:latin typeface="Times New Roman" panose="02020603050405020304" pitchFamily="18" charset="0"/>
                <a:cs typeface="Times New Roman" panose="02020603050405020304" pitchFamily="18" charset="0"/>
              </a:rPr>
              <a:t>3.1. </a:t>
            </a:r>
            <a:r>
              <a:rPr lang="en-GB" sz="2400" b="1" dirty="0">
                <a:latin typeface="Times New Roman" panose="02020603050405020304" pitchFamily="18" charset="0"/>
                <a:cs typeface="Times New Roman" panose="02020603050405020304" pitchFamily="18" charset="0"/>
              </a:rPr>
              <a:t>Materials</a:t>
            </a:r>
            <a:endParaRPr lang="tr-TR" sz="2400" b="1" dirty="0">
              <a:latin typeface="Times New Roman" panose="02020603050405020304" pitchFamily="18" charset="0"/>
              <a:cs typeface="Times New Roman" panose="02020603050405020304" pitchFamily="18" charset="0"/>
            </a:endParaRPr>
          </a:p>
          <a:p>
            <a:pPr marL="0" indent="0">
              <a:buNone/>
            </a:pPr>
            <a:r>
              <a:rPr lang="tr-TR" sz="1800" b="1" dirty="0">
                <a:latin typeface="Times New Roman" panose="02020603050405020304" pitchFamily="18" charset="0"/>
                <a:cs typeface="Times New Roman" panose="02020603050405020304" pitchFamily="18" charset="0"/>
              </a:rPr>
              <a:t>3.1.1. </a:t>
            </a:r>
            <a:r>
              <a:rPr lang="en-GB" sz="1800" b="1" dirty="0">
                <a:latin typeface="Times New Roman" panose="02020603050405020304" pitchFamily="18" charset="0"/>
                <a:cs typeface="Times New Roman" panose="02020603050405020304" pitchFamily="18" charset="0"/>
              </a:rPr>
              <a:t>Datasets</a:t>
            </a:r>
            <a:r>
              <a:rPr lang="en-GB" sz="18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sz="1800" dirty="0" err="1">
                <a:latin typeface="Times New Roman" panose="02020603050405020304" pitchFamily="18" charset="0"/>
                <a:cs typeface="Times New Roman" panose="02020603050405020304" pitchFamily="18" charset="0"/>
              </a:rPr>
              <a:t>EmpatheticDialogues</a:t>
            </a:r>
            <a:r>
              <a:rPr lang="en-GB" sz="1800" dirty="0">
                <a:latin typeface="Times New Roman" panose="02020603050405020304" pitchFamily="18" charset="0"/>
                <a:cs typeface="Times New Roman" panose="02020603050405020304" pitchFamily="18" charset="0"/>
              </a:rPr>
              <a:t>: Small-scale dataset focused on emotional conversations.</a:t>
            </a:r>
            <a:endParaRPr lang="tr-TR"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1600" dirty="0">
                <a:latin typeface="Times New Roman" panose="02020603050405020304" pitchFamily="18" charset="0"/>
                <a:cs typeface="Times New Roman" panose="02020603050405020304" pitchFamily="18" charset="0"/>
              </a:rPr>
              <a:t>We used ~1248 prompt-completion pairs </a:t>
            </a:r>
            <a:endParaRPr lang="tr-TR"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1600" dirty="0">
                <a:latin typeface="Times New Roman" panose="02020603050405020304" pitchFamily="18" charset="0"/>
                <a:cs typeface="Times New Roman" panose="02020603050405020304" pitchFamily="18" charset="0"/>
              </a:rPr>
              <a:t>Limitation: Some samples lacked context depth → filtered for quality</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MentalChat16K: Large clinical-quality dataset from real therapy sessions.</a:t>
            </a:r>
            <a:endParaRPr lang="tr-TR"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1600" dirty="0">
                <a:latin typeface="Times New Roman" panose="02020603050405020304" pitchFamily="18" charset="0"/>
                <a:cs typeface="Times New Roman" panose="02020603050405020304" pitchFamily="18" charset="0"/>
              </a:rPr>
              <a:t>Used: 6,338 high-quality QA pairs after filtering</a:t>
            </a:r>
            <a:endParaRPr lang="tr-TR"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1600" dirty="0">
                <a:latin typeface="Times New Roman" panose="02020603050405020304" pitchFamily="18" charset="0"/>
                <a:cs typeface="Times New Roman" panose="02020603050405020304" pitchFamily="18" charset="0"/>
              </a:rPr>
              <a:t>Domain-specific: Focused on real-world anxiety, grief, burnout, and caregiving stress</a:t>
            </a:r>
            <a:endParaRPr lang="tr-TR" sz="1600" dirty="0">
              <a:latin typeface="Times New Roman" panose="02020603050405020304" pitchFamily="18" charset="0"/>
              <a:cs typeface="Times New Roman" panose="02020603050405020304" pitchFamily="18" charset="0"/>
            </a:endParaRPr>
          </a:p>
        </p:txBody>
      </p:sp>
      <p:pic>
        <p:nvPicPr>
          <p:cNvPr id="5" name="Resim 4" descr="metin, ekran görüntüsü, sayı, numara, ekran, görüntüleme içeren bir resim&#10;&#10;Yapay zeka tarafından oluşturulan içerik yanlış olabilir.">
            <a:extLst>
              <a:ext uri="{FF2B5EF4-FFF2-40B4-BE49-F238E27FC236}">
                <a16:creationId xmlns:a16="http://schemas.microsoft.com/office/drawing/2014/main" id="{F1751924-4401-CF6E-3E27-E431205E0C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6733" y="2225675"/>
            <a:ext cx="6707302" cy="4175125"/>
          </a:xfrm>
          <a:prstGeom prst="rect">
            <a:avLst/>
          </a:prstGeom>
        </p:spPr>
      </p:pic>
    </p:spTree>
    <p:extLst>
      <p:ext uri="{BB962C8B-B14F-4D97-AF65-F5344CB8AC3E}">
        <p14:creationId xmlns:p14="http://schemas.microsoft.com/office/powerpoint/2010/main" val="22155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365125"/>
            <a:ext cx="8900604" cy="1325563"/>
          </a:xfrm>
        </p:spPr>
        <p:txBody>
          <a:bodyPr>
            <a:normAutofit/>
            <a:scene3d>
              <a:camera prst="orthographicFront"/>
              <a:lightRig rig="soft" dir="t">
                <a:rot lat="0" lon="0" rev="15600000"/>
              </a:lightRig>
            </a:scene3d>
            <a:sp3d extrusionH="57150" prstMaterial="softEdge">
              <a:bevelT w="25400" h="38100"/>
            </a:sp3d>
          </a:bodyPr>
          <a:lstStyle/>
          <a:p>
            <a:pPr algn="just"/>
            <a:r>
              <a:rPr lang="tr-TR"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a:t>
            </a:r>
            <a:r>
              <a:rPr lang="en-GB" sz="4500" dirty="0">
                <a:solidFill>
                  <a:schemeClr val="bg1"/>
                </a:solidFill>
                <a:latin typeface="Times New Roman" panose="02020603050405020304" pitchFamily="18" charset="0"/>
                <a:cs typeface="Times New Roman" panose="02020603050405020304" pitchFamily="18" charset="0"/>
              </a:rPr>
              <a:t>MATERIALS AND METHODS</a:t>
            </a: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838200" y="1880075"/>
            <a:ext cx="11100275" cy="4828374"/>
          </a:xfrm>
        </p:spPr>
        <p:txBody>
          <a:bodyPr>
            <a:normAutofit fontScale="25000" lnSpcReduction="20000"/>
          </a:bodyPr>
          <a:lstStyle/>
          <a:p>
            <a:pPr marL="0" indent="0">
              <a:buNone/>
            </a:pPr>
            <a:r>
              <a:rPr lang="en-GB" sz="7200" b="1" dirty="0">
                <a:latin typeface="Times New Roman" panose="02020603050405020304" pitchFamily="18" charset="0"/>
                <a:cs typeface="Times New Roman" panose="02020603050405020304" pitchFamily="18" charset="0"/>
              </a:rPr>
              <a:t>Dataset</a:t>
            </a:r>
            <a:r>
              <a:rPr lang="tr-TR" sz="7200" b="1" dirty="0">
                <a:latin typeface="Times New Roman" panose="02020603050405020304" pitchFamily="18" charset="0"/>
                <a:cs typeface="Times New Roman" panose="02020603050405020304" pitchFamily="18" charset="0"/>
              </a:rPr>
              <a:t> </a:t>
            </a:r>
            <a:r>
              <a:rPr lang="tr-TR" sz="7200" b="1" dirty="0" err="1">
                <a:latin typeface="Times New Roman" panose="02020603050405020304" pitchFamily="18" charset="0"/>
                <a:cs typeface="Times New Roman" panose="02020603050405020304" pitchFamily="18" charset="0"/>
              </a:rPr>
              <a:t>Sample</a:t>
            </a:r>
            <a:r>
              <a:rPr lang="tr-TR" sz="7200" b="1" dirty="0">
                <a:latin typeface="Times New Roman" panose="02020603050405020304" pitchFamily="18" charset="0"/>
                <a:cs typeface="Times New Roman" panose="02020603050405020304" pitchFamily="18" charset="0"/>
              </a:rPr>
              <a:t>(</a:t>
            </a:r>
            <a:r>
              <a:rPr lang="tr-TR" sz="7200" dirty="0" err="1">
                <a:latin typeface="Times New Roman" panose="02020603050405020304" pitchFamily="18" charset="0"/>
                <a:cs typeface="Times New Roman" panose="02020603050405020304" pitchFamily="18" charset="0"/>
              </a:rPr>
              <a:t>from</a:t>
            </a:r>
            <a:r>
              <a:rPr lang="tr-TR" sz="7200" b="1" dirty="0">
                <a:latin typeface="Times New Roman" panose="02020603050405020304" pitchFamily="18" charset="0"/>
                <a:cs typeface="Times New Roman" panose="02020603050405020304" pitchFamily="18" charset="0"/>
              </a:rPr>
              <a:t> </a:t>
            </a:r>
            <a:r>
              <a:rPr lang="en-GB" sz="7200" dirty="0">
                <a:latin typeface="Times New Roman" panose="02020603050405020304" pitchFamily="18" charset="0"/>
                <a:cs typeface="Times New Roman" panose="02020603050405020304" pitchFamily="18" charset="0"/>
              </a:rPr>
              <a:t>MentalChat16K</a:t>
            </a:r>
            <a:r>
              <a:rPr lang="tr-TR" sz="7200" b="1" dirty="0">
                <a:latin typeface="Times New Roman" panose="02020603050405020304" pitchFamily="18" charset="0"/>
                <a:cs typeface="Times New Roman" panose="02020603050405020304" pitchFamily="18" charset="0"/>
              </a:rPr>
              <a:t>):</a:t>
            </a:r>
          </a:p>
          <a:p>
            <a:pPr marL="0" indent="0">
              <a:buNone/>
            </a:pPr>
            <a:r>
              <a:rPr lang="en-GB" sz="4800" dirty="0">
                <a:latin typeface="Times New Roman" panose="02020603050405020304" pitchFamily="18" charset="0"/>
                <a:cs typeface="Times New Roman" panose="02020603050405020304" pitchFamily="18" charset="0"/>
              </a:rPr>
              <a:t>🔹 </a:t>
            </a:r>
            <a:r>
              <a:rPr lang="en-GB" sz="6000" dirty="0">
                <a:latin typeface="Times New Roman" panose="02020603050405020304" pitchFamily="18" charset="0"/>
                <a:cs typeface="Times New Roman" panose="02020603050405020304" pitchFamily="18" charset="0"/>
              </a:rPr>
              <a:t>Prompt</a:t>
            </a:r>
            <a:r>
              <a:rPr lang="en-GB" sz="4800" dirty="0">
                <a:latin typeface="Times New Roman" panose="02020603050405020304" pitchFamily="18" charset="0"/>
                <a:cs typeface="Times New Roman" panose="02020603050405020304" pitchFamily="18" charset="0"/>
              </a:rPr>
              <a:t>:</a:t>
            </a:r>
          </a:p>
          <a:p>
            <a:pPr marL="0" indent="0">
              <a:buNone/>
            </a:pPr>
            <a:r>
              <a:rPr lang="en-GB" sz="6000" dirty="0">
                <a:latin typeface="Times New Roman" panose="02020603050405020304" pitchFamily="18" charset="0"/>
                <a:cs typeface="Times New Roman" panose="02020603050405020304" pitchFamily="18" charset="0"/>
              </a:rPr>
              <a:t>I've been feeling anxious and on edge for weeks now. I can't seem to focus on anything, and I've been having trouble sleeping. I've tried meditation and deep breathing exercises, but they don't seem to help. I've also been avoiding social situations, as I feel like I'll be judged or criticized. I've been thinking about talking to a therapist, but I'm worried about the cost and the stigma associated with mental health treatment.</a:t>
            </a:r>
          </a:p>
          <a:p>
            <a:pPr marL="0" indent="0">
              <a:buNone/>
            </a:pPr>
            <a:r>
              <a:rPr lang="en-GB" sz="4800" dirty="0">
                <a:latin typeface="Times New Roman" panose="02020603050405020304" pitchFamily="18" charset="0"/>
                <a:cs typeface="Times New Roman" panose="02020603050405020304" pitchFamily="18" charset="0"/>
              </a:rPr>
              <a:t>🔹</a:t>
            </a:r>
            <a:r>
              <a:rPr lang="en-GB" sz="6000" dirty="0">
                <a:latin typeface="Times New Roman" panose="02020603050405020304" pitchFamily="18" charset="0"/>
                <a:cs typeface="Times New Roman" panose="02020603050405020304" pitchFamily="18" charset="0"/>
              </a:rPr>
              <a:t> Completion</a:t>
            </a:r>
            <a:r>
              <a:rPr lang="en-GB" sz="4800" dirty="0">
                <a:latin typeface="Times New Roman" panose="02020603050405020304" pitchFamily="18" charset="0"/>
                <a:cs typeface="Times New Roman" panose="02020603050405020304" pitchFamily="18" charset="0"/>
              </a:rPr>
              <a:t>:</a:t>
            </a:r>
          </a:p>
          <a:p>
            <a:pPr marL="0" indent="0">
              <a:buNone/>
            </a:pPr>
            <a:r>
              <a:rPr lang="en-GB" sz="6000" dirty="0">
                <a:latin typeface="Times New Roman" panose="02020603050405020304" pitchFamily="18" charset="0"/>
                <a:cs typeface="Times New Roman" panose="02020603050405020304" pitchFamily="18" charset="0"/>
              </a:rPr>
              <a:t>I understand that you're feeling anxious and on edge, and it's impacting your ability to focus and sleep. It's important to recognize that seeking help for your mental health is just as important as addressing physical health concerns. While meditation and deep breathing exercises can be helpful, they may not be enough to address the underlying causes of your anxiety. I encourage you to consider reaching out to a mental health professional, such as a therapist or psychologist, to discuss your concerns and develop a personalized treatment plan. Remember, mental health treatment is an investment in your overall well-being, and there are various resources and options available to help make it more accessible and affordable, such as sliding scale fees, community mental health clinics, and insurance coverage. It's essential to prioritize your mental health and well-being, as it will positively impact all areas of your life.</a:t>
            </a:r>
          </a:p>
          <a:p>
            <a:pPr marL="0" indent="0">
              <a:buNone/>
            </a:pPr>
            <a:r>
              <a:rPr lang="en-GB" sz="6000" dirty="0">
                <a:latin typeface="Times New Roman" panose="02020603050405020304" pitchFamily="18" charset="0"/>
                <a:cs typeface="Times New Roman" panose="02020603050405020304" pitchFamily="18" charset="0"/>
              </a:rPr>
              <a:t>However, I understand that beneath the surface of these practical concerns, there are deeper emotional challenges that come with the loss of your home, the approaching holidays, and the uncertainty of your financial future. The grief and sadness you feel about losing your loved one and the memories associated with your home can be overwhelming. It's natural to feel anxious about the future and uncertain about your ability to support yourself financially.</a:t>
            </a:r>
          </a:p>
          <a:p>
            <a:pPr marL="0" indent="0">
              <a:buNone/>
            </a:pPr>
            <a:r>
              <a:rPr lang="en-GB" sz="6000" dirty="0">
                <a:latin typeface="Times New Roman" panose="02020603050405020304" pitchFamily="18" charset="0"/>
                <a:cs typeface="Times New Roman" panose="02020603050405020304" pitchFamily="18" charset="0"/>
              </a:rPr>
              <a:t>To help you cope with these emotions, I'd like to suggest a few therapeutic approaches. First, we can explore the use of cognitive-</a:t>
            </a:r>
            <a:r>
              <a:rPr lang="en-GB" sz="6000" dirty="0" err="1">
                <a:latin typeface="Times New Roman" panose="02020603050405020304" pitchFamily="18" charset="0"/>
                <a:cs typeface="Times New Roman" panose="02020603050405020304" pitchFamily="18" charset="0"/>
              </a:rPr>
              <a:t>behavioral</a:t>
            </a:r>
            <a:r>
              <a:rPr lang="en-GB" sz="6000" dirty="0">
                <a:latin typeface="Times New Roman" panose="02020603050405020304" pitchFamily="18" charset="0"/>
                <a:cs typeface="Times New Roman" panose="02020603050405020304" pitchFamily="18" charset="0"/>
              </a:rPr>
              <a:t> techniques to help you challenge negative thoughts and reframe your perspective on your situation. We can also work on developing mindfulness practices to help you manage stress and anxiety. Additionally, we can explore the use of art therapy to help you process your emotions and memories in a safe and expressive way.</a:t>
            </a:r>
          </a:p>
          <a:p>
            <a:pPr marL="0" indent="0">
              <a:buNone/>
            </a:pPr>
            <a:r>
              <a:rPr lang="en-GB" sz="6000" dirty="0">
                <a:latin typeface="Times New Roman" panose="02020603050405020304" pitchFamily="18" charset="0"/>
                <a:cs typeface="Times New Roman" panose="02020603050405020304" pitchFamily="18" charset="0"/>
              </a:rPr>
              <a:t>As we work through these challenges, it's important to remember that healing is a process, and it's okay to feel a range of emotions as you navigate this transition. I'm here to support you every step of the way.</a:t>
            </a:r>
          </a:p>
          <a:p>
            <a:pPr marL="0" indent="0">
              <a:buNone/>
            </a:pPr>
            <a:endParaRPr lang="en-GB" sz="1800" dirty="0">
              <a:latin typeface="Times New Roman" panose="02020603050405020304" pitchFamily="18" charset="0"/>
              <a:cs typeface="Times New Roman" panose="02020603050405020304" pitchFamily="18" charset="0"/>
            </a:endParaRPr>
          </a:p>
          <a:p>
            <a:pPr marL="0" indent="0">
              <a:buNone/>
            </a:pP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7635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365125"/>
            <a:ext cx="8900604" cy="1325563"/>
          </a:xfrm>
        </p:spPr>
        <p:txBody>
          <a:bodyPr>
            <a:normAutofit/>
            <a:scene3d>
              <a:camera prst="orthographicFront"/>
              <a:lightRig rig="soft" dir="t">
                <a:rot lat="0" lon="0" rev="15600000"/>
              </a:lightRig>
            </a:scene3d>
            <a:sp3d extrusionH="57150" prstMaterial="softEdge">
              <a:bevelT w="25400" h="38100"/>
            </a:sp3d>
          </a:bodyPr>
          <a:lstStyle/>
          <a:p>
            <a:pPr algn="just"/>
            <a:r>
              <a:rPr lang="tr-TR"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a:t>
            </a:r>
            <a:r>
              <a:rPr lang="en-GB" sz="4500" dirty="0">
                <a:solidFill>
                  <a:schemeClr val="bg1"/>
                </a:solidFill>
                <a:latin typeface="Times New Roman" panose="02020603050405020304" pitchFamily="18" charset="0"/>
                <a:cs typeface="Times New Roman" panose="02020603050405020304" pitchFamily="18" charset="0"/>
              </a:rPr>
              <a:t>MATERIALS AND METHODS</a:t>
            </a: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838200" y="2225675"/>
            <a:ext cx="10515600" cy="4351338"/>
          </a:xfrm>
        </p:spPr>
        <p:txBody>
          <a:bodyPr>
            <a:normAutofit/>
          </a:bodyPr>
          <a:lstStyle/>
          <a:p>
            <a:pPr marL="0" indent="0" algn="just">
              <a:spcAft>
                <a:spcPts val="1200"/>
              </a:spcAft>
              <a:buNone/>
            </a:pPr>
            <a:r>
              <a:rPr lang="tr-TR" sz="1800" b="1" dirty="0" err="1">
                <a:latin typeface="Times New Roman" panose="02020603050405020304" pitchFamily="18" charset="0"/>
                <a:cs typeface="Times New Roman" panose="02020603050405020304" pitchFamily="18" charset="0"/>
              </a:rPr>
              <a:t>More</a:t>
            </a:r>
            <a:r>
              <a:rPr lang="tr-TR" sz="1800" b="1" dirty="0">
                <a:latin typeface="Times New Roman" panose="02020603050405020304" pitchFamily="18" charset="0"/>
                <a:cs typeface="Times New Roman" panose="02020603050405020304" pitchFamily="18" charset="0"/>
              </a:rPr>
              <a:t> on </a:t>
            </a:r>
            <a:r>
              <a:rPr lang="tr-TR" sz="1800" b="1" dirty="0" err="1">
                <a:latin typeface="Times New Roman" panose="02020603050405020304" pitchFamily="18" charset="0"/>
                <a:cs typeface="Times New Roman" panose="02020603050405020304" pitchFamily="18" charset="0"/>
              </a:rPr>
              <a:t>Dataset</a:t>
            </a:r>
            <a:r>
              <a:rPr lang="tr-TR" sz="1800" b="1" dirty="0">
                <a:latin typeface="Times New Roman" panose="02020603050405020304" pitchFamily="18" charset="0"/>
                <a:cs typeface="Times New Roman" panose="02020603050405020304" pitchFamily="18" charset="0"/>
              </a:rPr>
              <a:t>;</a:t>
            </a:r>
          </a:p>
        </p:txBody>
      </p:sp>
      <p:pic>
        <p:nvPicPr>
          <p:cNvPr id="5" name="Resim 4">
            <a:extLst>
              <a:ext uri="{FF2B5EF4-FFF2-40B4-BE49-F238E27FC236}">
                <a16:creationId xmlns:a16="http://schemas.microsoft.com/office/drawing/2014/main" id="{C4F279B2-FC2F-4446-A2D1-C929A1A22F7C}"/>
              </a:ext>
            </a:extLst>
          </p:cNvPr>
          <p:cNvPicPr>
            <a:picLocks noChangeAspect="1"/>
          </p:cNvPicPr>
          <p:nvPr/>
        </p:nvPicPr>
        <p:blipFill>
          <a:blip r:embed="rId2"/>
          <a:stretch>
            <a:fillRect/>
          </a:stretch>
        </p:blipFill>
        <p:spPr>
          <a:xfrm>
            <a:off x="3131318" y="2004375"/>
            <a:ext cx="7468642" cy="4572638"/>
          </a:xfrm>
          <a:prstGeom prst="rect">
            <a:avLst/>
          </a:prstGeom>
        </p:spPr>
      </p:pic>
    </p:spTree>
    <p:extLst>
      <p:ext uri="{BB962C8B-B14F-4D97-AF65-F5344CB8AC3E}">
        <p14:creationId xmlns:p14="http://schemas.microsoft.com/office/powerpoint/2010/main" val="1062696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2F40BD1-CCED-82EF-1C5E-C842F23F8EE9}"/>
              </a:ext>
            </a:extLst>
          </p:cNvPr>
          <p:cNvSpPr>
            <a:spLocks noGrp="1"/>
          </p:cNvSpPr>
          <p:nvPr>
            <p:ph type="title"/>
          </p:nvPr>
        </p:nvSpPr>
        <p:spPr/>
        <p:txBody>
          <a:bodyPr/>
          <a:lstStyle/>
          <a:p>
            <a:r>
              <a:rPr lang="tr-TR" sz="44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a:t>
            </a:r>
            <a:r>
              <a:rPr lang="en-GB" sz="4400" dirty="0">
                <a:solidFill>
                  <a:schemeClr val="bg1"/>
                </a:solidFill>
                <a:latin typeface="Times New Roman" panose="02020603050405020304" pitchFamily="18" charset="0"/>
                <a:cs typeface="Times New Roman" panose="02020603050405020304" pitchFamily="18" charset="0"/>
              </a:rPr>
              <a:t>MATERIALS AND METHODS</a:t>
            </a:r>
            <a:endParaRPr lang="en-GB" dirty="0"/>
          </a:p>
        </p:txBody>
      </p:sp>
      <p:sp>
        <p:nvSpPr>
          <p:cNvPr id="3" name="İçerik Yer Tutucusu 2">
            <a:extLst>
              <a:ext uri="{FF2B5EF4-FFF2-40B4-BE49-F238E27FC236}">
                <a16:creationId xmlns:a16="http://schemas.microsoft.com/office/drawing/2014/main" id="{45B05E68-77FC-3A9E-7124-AB148B41AA94}"/>
              </a:ext>
            </a:extLst>
          </p:cNvPr>
          <p:cNvSpPr>
            <a:spLocks noGrp="1"/>
          </p:cNvSpPr>
          <p:nvPr>
            <p:ph idx="1"/>
          </p:nvPr>
        </p:nvSpPr>
        <p:spPr>
          <a:xfrm>
            <a:off x="478564" y="1897165"/>
            <a:ext cx="10875236" cy="4279797"/>
          </a:xfrm>
        </p:spPr>
        <p:txBody>
          <a:bodyPr>
            <a:normAutofit/>
          </a:bodyPr>
          <a:lstStyle/>
          <a:p>
            <a:pPr marL="0" indent="0">
              <a:buNone/>
            </a:pPr>
            <a:r>
              <a:rPr lang="tr-TR" sz="2400" b="1" dirty="0">
                <a:latin typeface="Times New Roman" panose="02020603050405020304" pitchFamily="18" charset="0"/>
                <a:cs typeface="Times New Roman" panose="02020603050405020304" pitchFamily="18" charset="0"/>
              </a:rPr>
              <a:t>3.1.2. </a:t>
            </a:r>
            <a:r>
              <a:rPr lang="tr-TR" sz="2400" b="1" dirty="0" err="1">
                <a:latin typeface="Times New Roman" panose="02020603050405020304" pitchFamily="18" charset="0"/>
                <a:cs typeface="Times New Roman" panose="02020603050405020304" pitchFamily="18" charset="0"/>
              </a:rPr>
              <a:t>Models</a:t>
            </a:r>
            <a:r>
              <a:rPr lang="en-GB" sz="2400" dirty="0">
                <a:latin typeface="Times New Roman" panose="02020603050405020304" pitchFamily="18" charset="0"/>
                <a:cs typeface="Times New Roman" panose="02020603050405020304" pitchFamily="18" charset="0"/>
              </a:rPr>
              <a:t>:</a:t>
            </a:r>
          </a:p>
          <a:p>
            <a:pPr marL="0" indent="0">
              <a:buNone/>
            </a:pPr>
            <a:r>
              <a:rPr lang="en-GB" sz="1800" b="1" dirty="0">
                <a:latin typeface="Times New Roman" panose="02020603050405020304" pitchFamily="18" charset="0"/>
                <a:cs typeface="Times New Roman" panose="02020603050405020304" pitchFamily="18" charset="0"/>
              </a:rPr>
              <a:t>🔹 Nous Hermes 2 Pro - Mistral 7B</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Based on the lightweight </a:t>
            </a:r>
            <a:r>
              <a:rPr lang="en-GB" sz="1800" b="1" dirty="0">
                <a:latin typeface="Times New Roman" panose="02020603050405020304" pitchFamily="18" charset="0"/>
                <a:cs typeface="Times New Roman" panose="02020603050405020304" pitchFamily="18" charset="0"/>
              </a:rPr>
              <a:t>Mistral 7B</a:t>
            </a:r>
            <a:r>
              <a:rPr lang="en-GB" sz="1800" dirty="0">
                <a:latin typeface="Times New Roman" panose="02020603050405020304" pitchFamily="18" charset="0"/>
                <a:cs typeface="Times New Roman" panose="02020603050405020304" pitchFamily="18" charset="0"/>
              </a:rPr>
              <a:t> architecture.</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Instruction-tuned with strong performance on dialogue tasks.</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Efficient for fine-tuning with </a:t>
            </a:r>
            <a:r>
              <a:rPr lang="en-GB" sz="1800" b="1" dirty="0" err="1">
                <a:latin typeface="Times New Roman" panose="02020603050405020304" pitchFamily="18" charset="0"/>
                <a:cs typeface="Times New Roman" panose="02020603050405020304" pitchFamily="18" charset="0"/>
              </a:rPr>
              <a:t>LoRA</a:t>
            </a:r>
            <a:r>
              <a:rPr lang="en-GB" sz="1800" b="1" dirty="0">
                <a:latin typeface="Times New Roman" panose="02020603050405020304" pitchFamily="18" charset="0"/>
                <a:cs typeface="Times New Roman" panose="02020603050405020304" pitchFamily="18" charset="0"/>
              </a:rPr>
              <a:t> (Low-Rank Adaptation)</a:t>
            </a:r>
            <a:r>
              <a:rPr lang="en-GB" sz="18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Suitable for empathetic and task-aligned completions.</a:t>
            </a:r>
          </a:p>
          <a:p>
            <a:pPr marL="0" indent="0">
              <a:buNone/>
            </a:pPr>
            <a:r>
              <a:rPr lang="en-GB" sz="1800" b="1" dirty="0">
                <a:latin typeface="Times New Roman" panose="02020603050405020304" pitchFamily="18" charset="0"/>
                <a:cs typeface="Times New Roman" panose="02020603050405020304" pitchFamily="18" charset="0"/>
              </a:rPr>
              <a:t>🔹 Meta </a:t>
            </a:r>
            <a:r>
              <a:rPr lang="en-GB" sz="1800" b="1" dirty="0" err="1">
                <a:latin typeface="Times New Roman" panose="02020603050405020304" pitchFamily="18" charset="0"/>
                <a:cs typeface="Times New Roman" panose="02020603050405020304" pitchFamily="18" charset="0"/>
              </a:rPr>
              <a:t>LLaMA</a:t>
            </a:r>
            <a:r>
              <a:rPr lang="en-GB" sz="1800" b="1" dirty="0">
                <a:latin typeface="Times New Roman" panose="02020603050405020304" pitchFamily="18" charset="0"/>
                <a:cs typeface="Times New Roman" panose="02020603050405020304" pitchFamily="18" charset="0"/>
              </a:rPr>
              <a:t> 3 - 8B Instruct</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State-of-the-art model from Meta, designed for instruction following.</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Enhanced reasoning, generation, and safety mechanisms.</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Demonstrates powerful generalization on mental health-style prompts.</a:t>
            </a:r>
          </a:p>
        </p:txBody>
      </p:sp>
    </p:spTree>
    <p:extLst>
      <p:ext uri="{BB962C8B-B14F-4D97-AF65-F5344CB8AC3E}">
        <p14:creationId xmlns:p14="http://schemas.microsoft.com/office/powerpoint/2010/main" val="2148204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838201" y="2225675"/>
            <a:ext cx="8237434" cy="4351338"/>
          </a:xfrm>
        </p:spPr>
        <p:txBody>
          <a:bodyPr>
            <a:normAutofit/>
          </a:bodyPr>
          <a:lstStyle/>
          <a:p>
            <a:pPr marL="0" indent="0" algn="just">
              <a:spcAft>
                <a:spcPts val="1200"/>
              </a:spcAft>
              <a:buNone/>
            </a:pPr>
            <a:r>
              <a:rPr lang="tr-TR" sz="2400" b="1" dirty="0">
                <a:latin typeface="Times New Roman" panose="02020603050405020304" pitchFamily="18" charset="0"/>
                <a:cs typeface="Times New Roman" panose="02020603050405020304" pitchFamily="18" charset="0"/>
              </a:rPr>
              <a:t>3</a:t>
            </a:r>
            <a:r>
              <a:rPr lang="en-US" sz="2400" b="1" dirty="0">
                <a:latin typeface="Times New Roman" panose="02020603050405020304" pitchFamily="18" charset="0"/>
                <a:cs typeface="Times New Roman" panose="02020603050405020304" pitchFamily="18" charset="0"/>
              </a:rPr>
              <a:t>.</a:t>
            </a:r>
            <a:r>
              <a:rPr lang="tr-TR" sz="2400" b="1"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a:t>
            </a:r>
            <a:r>
              <a:rPr lang="en-GB" sz="2400" b="1" dirty="0">
                <a:latin typeface="Times New Roman" panose="02020603050405020304" pitchFamily="18" charset="0"/>
                <a:cs typeface="Times New Roman" panose="02020603050405020304" pitchFamily="18" charset="0"/>
              </a:rPr>
              <a:t>Methods</a:t>
            </a:r>
            <a:endParaRPr lang="en-US" sz="2400" b="1" dirty="0">
              <a:latin typeface="Times New Roman" panose="02020603050405020304" pitchFamily="18" charset="0"/>
              <a:cs typeface="Times New Roman" panose="02020603050405020304" pitchFamily="18" charset="0"/>
            </a:endParaRPr>
          </a:p>
          <a:p>
            <a:pPr algn="just"/>
            <a:r>
              <a:rPr lang="en-GB" sz="1800" b="1" dirty="0">
                <a:latin typeface="Times New Roman" panose="02020603050405020304" pitchFamily="18" charset="0"/>
                <a:cs typeface="Times New Roman" panose="02020603050405020304" pitchFamily="18" charset="0"/>
              </a:rPr>
              <a:t>Data Preprocessing</a:t>
            </a:r>
            <a:r>
              <a:rPr lang="en-GB" sz="1800" dirty="0">
                <a:latin typeface="Times New Roman" panose="02020603050405020304" pitchFamily="18" charset="0"/>
                <a:cs typeface="Times New Roman" panose="02020603050405020304" pitchFamily="18" charset="0"/>
              </a:rPr>
              <a:t>: Cleaned and converted datasets into prompt-completion format (.</a:t>
            </a:r>
            <a:r>
              <a:rPr lang="en-GB" sz="1800" dirty="0" err="1">
                <a:latin typeface="Times New Roman" panose="02020603050405020304" pitchFamily="18" charset="0"/>
                <a:cs typeface="Times New Roman" panose="02020603050405020304" pitchFamily="18" charset="0"/>
              </a:rPr>
              <a:t>jsonl</a:t>
            </a:r>
            <a:r>
              <a:rPr lang="en-GB" sz="1800" dirty="0">
                <a:latin typeface="Times New Roman" panose="02020603050405020304" pitchFamily="18" charset="0"/>
                <a:cs typeface="Times New Roman" panose="02020603050405020304" pitchFamily="18" charset="0"/>
              </a:rPr>
              <a:t>), split into train/validation/test sets.</a:t>
            </a:r>
            <a:endParaRPr lang="tr-TR" sz="1800" dirty="0">
              <a:latin typeface="Times New Roman" panose="02020603050405020304" pitchFamily="18" charset="0"/>
              <a:cs typeface="Times New Roman" panose="02020603050405020304" pitchFamily="18" charset="0"/>
            </a:endParaRPr>
          </a:p>
          <a:p>
            <a:pPr algn="just"/>
            <a:r>
              <a:rPr lang="en-GB" sz="1800" b="1" dirty="0">
                <a:latin typeface="Times New Roman" panose="02020603050405020304" pitchFamily="18" charset="0"/>
                <a:cs typeface="Times New Roman" panose="02020603050405020304" pitchFamily="18" charset="0"/>
              </a:rPr>
              <a:t>Fine-Tuning</a:t>
            </a:r>
            <a:r>
              <a:rPr lang="en-GB" sz="1800" dirty="0">
                <a:latin typeface="Times New Roman" panose="02020603050405020304" pitchFamily="18" charset="0"/>
                <a:cs typeface="Times New Roman" panose="02020603050405020304" pitchFamily="18" charset="0"/>
              </a:rPr>
              <a:t>: Conducted supervised training using </a:t>
            </a:r>
            <a:r>
              <a:rPr lang="en-GB" sz="1800" dirty="0" err="1">
                <a:latin typeface="Times New Roman" panose="02020603050405020304" pitchFamily="18" charset="0"/>
                <a:cs typeface="Times New Roman" panose="02020603050405020304" pitchFamily="18" charset="0"/>
              </a:rPr>
              <a:t>LoRA</a:t>
            </a:r>
            <a:r>
              <a:rPr lang="en-GB" sz="1800" dirty="0">
                <a:latin typeface="Times New Roman" panose="02020603050405020304" pitchFamily="18" charset="0"/>
                <a:cs typeface="Times New Roman" panose="02020603050405020304" pitchFamily="18" charset="0"/>
              </a:rPr>
              <a:t> with Hugging Face libraries in </a:t>
            </a:r>
            <a:r>
              <a:rPr lang="en-GB" sz="1800" dirty="0" err="1">
                <a:latin typeface="Times New Roman" panose="02020603050405020304" pitchFamily="18" charset="0"/>
                <a:cs typeface="Times New Roman" panose="02020603050405020304" pitchFamily="18" charset="0"/>
              </a:rPr>
              <a:t>Colab</a:t>
            </a:r>
            <a:r>
              <a:rPr lang="en-GB" sz="1800" dirty="0">
                <a:latin typeface="Times New Roman" panose="02020603050405020304" pitchFamily="18" charset="0"/>
                <a:cs typeface="Times New Roman" panose="02020603050405020304" pitchFamily="18" charset="0"/>
              </a:rPr>
              <a:t>.</a:t>
            </a:r>
            <a:endParaRPr lang="tr-TR" sz="1800" dirty="0">
              <a:latin typeface="Times New Roman" panose="02020603050405020304" pitchFamily="18" charset="0"/>
              <a:cs typeface="Times New Roman" panose="02020603050405020304" pitchFamily="18" charset="0"/>
            </a:endParaRPr>
          </a:p>
          <a:p>
            <a:pPr algn="just"/>
            <a:r>
              <a:rPr lang="en-GB" sz="1800" b="1" dirty="0">
                <a:latin typeface="Times New Roman" panose="02020603050405020304" pitchFamily="18" charset="0"/>
                <a:cs typeface="Times New Roman" panose="02020603050405020304" pitchFamily="18" charset="0"/>
              </a:rPr>
              <a:t>Evaluation</a:t>
            </a:r>
            <a:r>
              <a:rPr lang="en-GB" sz="1800" dirty="0">
                <a:latin typeface="Times New Roman" panose="02020603050405020304" pitchFamily="18" charset="0"/>
                <a:cs typeface="Times New Roman" panose="02020603050405020304" pitchFamily="18" charset="0"/>
              </a:rPr>
              <a:t>: Used BLEU and </a:t>
            </a:r>
            <a:r>
              <a:rPr lang="en-GB" sz="1800" dirty="0" err="1">
                <a:latin typeface="Times New Roman" panose="02020603050405020304" pitchFamily="18" charset="0"/>
                <a:cs typeface="Times New Roman" panose="02020603050405020304" pitchFamily="18" charset="0"/>
              </a:rPr>
              <a:t>BERTScore</a:t>
            </a:r>
            <a:r>
              <a:rPr lang="en-GB" sz="1800" dirty="0">
                <a:latin typeface="Times New Roman" panose="02020603050405020304" pitchFamily="18" charset="0"/>
                <a:cs typeface="Times New Roman" panose="02020603050405020304" pitchFamily="18" charset="0"/>
              </a:rPr>
              <a:t> metrics to measure response quality, before and after fine-tuning</a:t>
            </a:r>
            <a:r>
              <a:rPr lang="tr-TR" sz="1800"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5" name="Başlık 1">
            <a:extLst>
              <a:ext uri="{FF2B5EF4-FFF2-40B4-BE49-F238E27FC236}">
                <a16:creationId xmlns:a16="http://schemas.microsoft.com/office/drawing/2014/main" id="{6CB84AF9-0587-BF69-DF0A-56709976E4AC}"/>
              </a:ext>
            </a:extLst>
          </p:cNvPr>
          <p:cNvSpPr>
            <a:spLocks noGrp="1"/>
          </p:cNvSpPr>
          <p:nvPr>
            <p:ph type="title"/>
          </p:nvPr>
        </p:nvSpPr>
        <p:spPr>
          <a:xfrm>
            <a:off x="838200" y="365125"/>
            <a:ext cx="10515600" cy="1325563"/>
          </a:xfrm>
        </p:spPr>
        <p:txBody>
          <a:bodyPr/>
          <a:lstStyle/>
          <a:p>
            <a:r>
              <a:rPr lang="tr-TR" sz="44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a:t>
            </a:r>
            <a:r>
              <a:rPr lang="en-GB" sz="4400" dirty="0">
                <a:solidFill>
                  <a:schemeClr val="bg1"/>
                </a:solidFill>
                <a:latin typeface="Times New Roman" panose="02020603050405020304" pitchFamily="18" charset="0"/>
                <a:cs typeface="Times New Roman" panose="02020603050405020304" pitchFamily="18" charset="0"/>
              </a:rPr>
              <a:t>MATERIALS AND METHODS</a:t>
            </a:r>
            <a:endParaRPr lang="en-GB" dirty="0"/>
          </a:p>
        </p:txBody>
      </p:sp>
    </p:spTree>
    <p:extLst>
      <p:ext uri="{BB962C8B-B14F-4D97-AF65-F5344CB8AC3E}">
        <p14:creationId xmlns:p14="http://schemas.microsoft.com/office/powerpoint/2010/main" val="1438253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4">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184805"/>
            <a:ext cx="10515600" cy="1505883"/>
          </a:xfrm>
        </p:spPr>
        <p:txBody>
          <a:bodyPr vert="horz" lIns="91440" tIns="45720" rIns="91440" bIns="45720" rtlCol="0" anchor="ctr">
            <a:normAutofit/>
            <a:scene3d>
              <a:camera prst="orthographicFront"/>
              <a:lightRig rig="soft" dir="t">
                <a:rot lat="0" lon="0" rev="15600000"/>
              </a:lightRig>
            </a:scene3d>
            <a:sp3d extrusionH="57150" prstMaterial="softEdge">
              <a:bevelT w="25400" h="38100"/>
            </a:sp3d>
          </a:bodyPr>
          <a:lstStyle/>
          <a:p>
            <a:r>
              <a:rPr lang="en-US" sz="5200" b="1" kern="1200" dirty="0">
                <a:ln w="0"/>
                <a:solidFill>
                  <a:schemeClr val="tx1"/>
                </a:solidFill>
                <a:effectLst>
                  <a:outerShdw blurRad="38100" dist="19050" dir="2700000" algn="tl" rotWithShape="0">
                    <a:schemeClr val="dk1">
                      <a:alpha val="40000"/>
                    </a:schemeClr>
                  </a:outerShdw>
                </a:effectLst>
                <a:latin typeface="+mj-lt"/>
                <a:ea typeface="+mj-ea"/>
                <a:cs typeface="+mj-cs"/>
              </a:rPr>
              <a:t>4</a:t>
            </a:r>
            <a:r>
              <a:rPr lang="en-US" sz="5200" kern="1200" dirty="0">
                <a:ln w="0"/>
                <a:solidFill>
                  <a:schemeClr val="tx1"/>
                </a:solidFill>
                <a:effectLst>
                  <a:outerShdw blurRad="38100" dist="19050" dir="2700000" algn="tl" rotWithShape="0">
                    <a:schemeClr val="dk1">
                      <a:alpha val="40000"/>
                    </a:schemeClr>
                  </a:outerShdw>
                </a:effectLst>
                <a:latin typeface="+mj-lt"/>
                <a:ea typeface="+mj-ea"/>
                <a:cs typeface="+mj-cs"/>
              </a:rPr>
              <a:t>. </a:t>
            </a:r>
            <a:r>
              <a:rPr lang="en-US" sz="5200" b="1" kern="1200" dirty="0">
                <a:ln w="0"/>
                <a:solidFill>
                  <a:schemeClr val="tx1"/>
                </a:solidFill>
                <a:effectLst>
                  <a:outerShdw blurRad="38100" dist="19050" dir="2700000" algn="tl" rotWithShape="0">
                    <a:schemeClr val="dk1">
                      <a:alpha val="40000"/>
                    </a:schemeClr>
                  </a:outerShdw>
                </a:effectLst>
                <a:latin typeface="+mj-lt"/>
                <a:ea typeface="+mj-ea"/>
                <a:cs typeface="+mj-cs"/>
              </a:rPr>
              <a:t>APPLICATION</a:t>
            </a:r>
          </a:p>
        </p:txBody>
      </p:sp>
      <p:pic>
        <p:nvPicPr>
          <p:cNvPr id="9" name="Resim 8">
            <a:extLst>
              <a:ext uri="{FF2B5EF4-FFF2-40B4-BE49-F238E27FC236}">
                <a16:creationId xmlns:a16="http://schemas.microsoft.com/office/drawing/2014/main" id="{F6696122-99C7-B8A0-36CD-253AE2CE0612}"/>
              </a:ext>
            </a:extLst>
          </p:cNvPr>
          <p:cNvPicPr>
            <a:picLocks noChangeAspect="1"/>
          </p:cNvPicPr>
          <p:nvPr/>
        </p:nvPicPr>
        <p:blipFill>
          <a:blip r:embed="rId2"/>
          <a:stretch>
            <a:fillRect/>
          </a:stretch>
        </p:blipFill>
        <p:spPr>
          <a:xfrm>
            <a:off x="1275236" y="1311564"/>
            <a:ext cx="9706800" cy="5536714"/>
          </a:xfrm>
          <a:prstGeom prst="rect">
            <a:avLst/>
          </a:prstGeom>
        </p:spPr>
      </p:pic>
    </p:spTree>
    <p:extLst>
      <p:ext uri="{BB962C8B-B14F-4D97-AF65-F5344CB8AC3E}">
        <p14:creationId xmlns:p14="http://schemas.microsoft.com/office/powerpoint/2010/main" val="3205551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365125"/>
            <a:ext cx="8900604" cy="1325563"/>
          </a:xfrm>
        </p:spPr>
        <p:txBody>
          <a:bodyPr>
            <a:normAutofit/>
            <a:scene3d>
              <a:camera prst="orthographicFront"/>
              <a:lightRig rig="soft" dir="t">
                <a:rot lat="0" lon="0" rev="15600000"/>
              </a:lightRig>
            </a:scene3d>
            <a:sp3d extrusionH="57150" prstMaterial="softEdge">
              <a:bevelT w="25400" h="38100"/>
            </a:sp3d>
          </a:bodyPr>
          <a:lstStyle/>
          <a:p>
            <a:r>
              <a:rPr lang="tr-TR" sz="33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4.1. </a:t>
            </a:r>
            <a:r>
              <a:rPr lang="tr-TR" sz="3300" b="1"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Tokenizer</a:t>
            </a:r>
            <a:r>
              <a:rPr lang="tr-TR" sz="33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tr-TR" sz="3300" b="1"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and</a:t>
            </a:r>
            <a:r>
              <a:rPr lang="tr-TR" sz="33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tr-TR" sz="3300" b="1"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Prompt</a:t>
            </a:r>
            <a:r>
              <a:rPr lang="tr-TR" sz="33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tr-TR" sz="3300" b="1"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Formatting</a:t>
            </a:r>
            <a:br>
              <a:rPr lang="tr-TR" sz="4800" b="1" dirty="0">
                <a:latin typeface="Times New Roman" panose="02020603050405020304" pitchFamily="18" charset="0"/>
                <a:cs typeface="Times New Roman" panose="02020603050405020304" pitchFamily="18" charset="0"/>
              </a:rPr>
            </a:b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03D80E5-06B3-60C8-3DBE-6925B991E9E5}"/>
              </a:ext>
            </a:extLst>
          </p:cNvPr>
          <p:cNvSpPr txBox="1">
            <a:spLocks/>
          </p:cNvSpPr>
          <p:nvPr/>
        </p:nvSpPr>
        <p:spPr>
          <a:xfrm>
            <a:off x="1021772" y="2141537"/>
            <a:ext cx="1014845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Aft>
                <a:spcPts val="1200"/>
              </a:spcAft>
              <a:buFont typeface="Arial" panose="020B0604020202020204" pitchFamily="34" charset="0"/>
              <a:buNone/>
            </a:pPr>
            <a:endParaRPr lang="tr-TR" sz="1800" b="1" dirty="0">
              <a:latin typeface="Times New Roman" panose="02020603050405020304" pitchFamily="18" charset="0"/>
              <a:cs typeface="Times New Roman" panose="02020603050405020304" pitchFamily="18" charset="0"/>
            </a:endParaRPr>
          </a:p>
        </p:txBody>
      </p:sp>
      <p:sp>
        <p:nvSpPr>
          <p:cNvPr id="12" name="Rectangle 2">
            <a:extLst>
              <a:ext uri="{FF2B5EF4-FFF2-40B4-BE49-F238E27FC236}">
                <a16:creationId xmlns:a16="http://schemas.microsoft.com/office/drawing/2014/main" id="{588C6B67-ED36-65E8-9F12-5BD2333FE00F}"/>
              </a:ext>
            </a:extLst>
          </p:cNvPr>
          <p:cNvSpPr>
            <a:spLocks noGrp="1" noChangeArrowheads="1"/>
          </p:cNvSpPr>
          <p:nvPr>
            <p:ph idx="1"/>
          </p:nvPr>
        </p:nvSpPr>
        <p:spPr bwMode="auto">
          <a:xfrm>
            <a:off x="838200" y="2451965"/>
            <a:ext cx="816127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Nous Hermes (Mistral 7B):</a:t>
            </a:r>
            <a:endParaRPr kumimoji="0" lang="tr-TR"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LlamaTokenizer</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Hugging Face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Compatible with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MistralForCausalLM</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on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SentencePiece</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subword</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tokenization)</a:t>
            </a:r>
            <a:endParaRPr kumimoji="0" lang="tr-TR"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LLaMA</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 (8B Instruct):</a:t>
            </a:r>
            <a:endParaRPr kumimoji="0" lang="tr-TR"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Ø"/>
            </a:pP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AutoTokenizer</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Hugging Face</a:t>
            </a:r>
          </a:p>
          <a:p>
            <a:pPr eaLnBrk="0" fontAlgn="base" hangingPunct="0">
              <a:lnSpc>
                <a:spcPct val="100000"/>
              </a:lnSpc>
              <a:spcBef>
                <a:spcPct val="0"/>
              </a:spcBef>
              <a:spcAft>
                <a:spcPct val="0"/>
              </a:spcAft>
              <a:buFont typeface="Wingdings" panose="05000000000000000000" pitchFamily="2" charset="2"/>
              <a:buChar char="Ø"/>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Automatically loads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LLaMA</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3–compatible tokenizer (also based on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SentencePiece</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4243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401307" y="2326697"/>
            <a:ext cx="2078182" cy="1325563"/>
          </a:xfrm>
        </p:spPr>
        <p:txBody>
          <a:bodyPr>
            <a:normAutofit/>
            <a:scene3d>
              <a:camera prst="orthographicFront"/>
              <a:lightRig rig="soft" dir="t">
                <a:rot lat="0" lon="0" rev="15600000"/>
              </a:lightRig>
            </a:scene3d>
            <a:sp3d extrusionH="57150" prstMaterial="softEdge">
              <a:bevelT w="25400" h="38100"/>
            </a:sp3d>
          </a:bodyPr>
          <a:lstStyle/>
          <a:p>
            <a:r>
              <a:rPr lang="tr-TR" sz="1500" b="1" dirty="0" err="1">
                <a:ln w="0"/>
                <a:latin typeface="Times New Roman" panose="02020603050405020304" pitchFamily="18" charset="0"/>
                <a:cs typeface="Times New Roman" panose="02020603050405020304" pitchFamily="18" charset="0"/>
              </a:rPr>
              <a:t>Nous</a:t>
            </a:r>
            <a:r>
              <a:rPr lang="tr-TR" sz="1500" b="1" dirty="0">
                <a:ln w="0"/>
                <a:latin typeface="Times New Roman" panose="02020603050405020304" pitchFamily="18" charset="0"/>
                <a:cs typeface="Times New Roman" panose="02020603050405020304" pitchFamily="18" charset="0"/>
              </a:rPr>
              <a:t> </a:t>
            </a:r>
            <a:r>
              <a:rPr lang="tr-TR" sz="1500" b="1" dirty="0" err="1">
                <a:ln w="0"/>
                <a:latin typeface="Times New Roman" panose="02020603050405020304" pitchFamily="18" charset="0"/>
                <a:cs typeface="Times New Roman" panose="02020603050405020304" pitchFamily="18" charset="0"/>
              </a:rPr>
              <a:t>Hermes</a:t>
            </a:r>
            <a:r>
              <a:rPr lang="tr-TR" sz="1500" b="1" dirty="0">
                <a:ln w="0"/>
                <a:latin typeface="Times New Roman" panose="02020603050405020304" pitchFamily="18" charset="0"/>
                <a:cs typeface="Times New Roman" panose="02020603050405020304" pitchFamily="18" charset="0"/>
              </a:rPr>
              <a:t> 2</a:t>
            </a:r>
            <a:endParaRPr lang="en-US" sz="1500" b="1" dirty="0">
              <a:ln w="0"/>
              <a:latin typeface="Times New Roman" panose="02020603050405020304" pitchFamily="18" charset="0"/>
              <a:cs typeface="Times New Roman" panose="02020603050405020304" pitchFamily="18" charset="0"/>
            </a:endParaRPr>
          </a:p>
        </p:txBody>
      </p:sp>
      <p:pic>
        <p:nvPicPr>
          <p:cNvPr id="5" name="Resim 4">
            <a:extLst>
              <a:ext uri="{FF2B5EF4-FFF2-40B4-BE49-F238E27FC236}">
                <a16:creationId xmlns:a16="http://schemas.microsoft.com/office/drawing/2014/main" id="{D290176F-10DE-4221-8481-69329FAEC95C}"/>
              </a:ext>
            </a:extLst>
          </p:cNvPr>
          <p:cNvPicPr>
            <a:picLocks noChangeAspect="1"/>
          </p:cNvPicPr>
          <p:nvPr/>
        </p:nvPicPr>
        <p:blipFill>
          <a:blip r:embed="rId2"/>
          <a:stretch>
            <a:fillRect/>
          </a:stretch>
        </p:blipFill>
        <p:spPr>
          <a:xfrm>
            <a:off x="2104074" y="4251889"/>
            <a:ext cx="9378625" cy="2435090"/>
          </a:xfrm>
          <a:prstGeom prst="rect">
            <a:avLst/>
          </a:prstGeom>
        </p:spPr>
      </p:pic>
      <p:pic>
        <p:nvPicPr>
          <p:cNvPr id="7" name="Resim 6">
            <a:extLst>
              <a:ext uri="{FF2B5EF4-FFF2-40B4-BE49-F238E27FC236}">
                <a16:creationId xmlns:a16="http://schemas.microsoft.com/office/drawing/2014/main" id="{A4B9EB53-AF1F-0280-5C8A-92674C75DE8B}"/>
              </a:ext>
            </a:extLst>
          </p:cNvPr>
          <p:cNvPicPr>
            <a:picLocks noChangeAspect="1"/>
          </p:cNvPicPr>
          <p:nvPr/>
        </p:nvPicPr>
        <p:blipFill>
          <a:blip r:embed="rId3"/>
          <a:stretch>
            <a:fillRect/>
          </a:stretch>
        </p:blipFill>
        <p:spPr>
          <a:xfrm>
            <a:off x="2104074" y="1984450"/>
            <a:ext cx="9378625" cy="2010056"/>
          </a:xfrm>
          <a:prstGeom prst="rect">
            <a:avLst/>
          </a:prstGeom>
        </p:spPr>
      </p:pic>
      <p:sp>
        <p:nvSpPr>
          <p:cNvPr id="8" name="Title 1">
            <a:extLst>
              <a:ext uri="{FF2B5EF4-FFF2-40B4-BE49-F238E27FC236}">
                <a16:creationId xmlns:a16="http://schemas.microsoft.com/office/drawing/2014/main" id="{4D89279E-C316-67F5-87DC-C7B39969C6C6}"/>
              </a:ext>
            </a:extLst>
          </p:cNvPr>
          <p:cNvSpPr txBox="1">
            <a:spLocks/>
          </p:cNvSpPr>
          <p:nvPr/>
        </p:nvSpPr>
        <p:spPr>
          <a:xfrm>
            <a:off x="990600" y="517525"/>
            <a:ext cx="8900604" cy="1325563"/>
          </a:xfrm>
          <a:prstGeom prst="rect">
            <a:avLst/>
          </a:prstGeom>
        </p:spPr>
        <p:txBody>
          <a:bodyPr vert="horz" lIns="91440" tIns="45720" rIns="91440" bIns="45720" rtlCol="0" anchor="ctr">
            <a:normAutofit/>
            <a:scene3d>
              <a:camera prst="orthographicFront"/>
              <a:lightRig rig="soft" dir="t">
                <a:rot lat="0" lon="0" rev="15600000"/>
              </a:lightRig>
            </a:scene3d>
            <a:sp3d extrusionH="57150" prstMaterial="softEdge">
              <a:bevelT w="25400" h="38100"/>
            </a:sp3d>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sz="33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4.1. </a:t>
            </a:r>
            <a:r>
              <a:rPr lang="tr-TR" sz="3300" b="1"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Tokenizer</a:t>
            </a:r>
            <a:r>
              <a:rPr lang="tr-TR" sz="33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tr-TR" sz="3300" b="1"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and</a:t>
            </a:r>
            <a:r>
              <a:rPr lang="tr-TR" sz="33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tr-TR" sz="3300" b="1"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Prompt</a:t>
            </a:r>
            <a:r>
              <a:rPr lang="tr-TR" sz="33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tr-TR" sz="3300" b="1"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Formatting</a:t>
            </a:r>
            <a:br>
              <a:rPr lang="tr-TR" sz="4800" b="1" dirty="0">
                <a:latin typeface="Times New Roman" panose="02020603050405020304" pitchFamily="18" charset="0"/>
                <a:cs typeface="Times New Roman" panose="02020603050405020304" pitchFamily="18" charset="0"/>
              </a:rPr>
            </a:b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F4FE8DB0-4067-6404-22C4-7C385F9FC5BA}"/>
              </a:ext>
            </a:extLst>
          </p:cNvPr>
          <p:cNvSpPr txBox="1">
            <a:spLocks/>
          </p:cNvSpPr>
          <p:nvPr/>
        </p:nvSpPr>
        <p:spPr>
          <a:xfrm>
            <a:off x="401307" y="4664966"/>
            <a:ext cx="2078182" cy="1325563"/>
          </a:xfrm>
          <a:prstGeom prst="rect">
            <a:avLst/>
          </a:prstGeom>
        </p:spPr>
        <p:txBody>
          <a:bodyPr vert="horz" lIns="91440" tIns="45720" rIns="91440" bIns="45720" rtlCol="0" anchor="ctr">
            <a:normAutofit/>
            <a:scene3d>
              <a:camera prst="orthographicFront"/>
              <a:lightRig rig="soft" dir="t">
                <a:rot lat="0" lon="0" rev="15600000"/>
              </a:lightRig>
            </a:scene3d>
            <a:sp3d extrusionH="57150" prstMaterial="softEdge">
              <a:bevelT w="25400" h="38100"/>
            </a:sp3d>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sz="1500" b="1" dirty="0" err="1">
                <a:ln w="0"/>
                <a:latin typeface="Times New Roman" panose="02020603050405020304" pitchFamily="18" charset="0"/>
                <a:cs typeface="Times New Roman" panose="02020603050405020304" pitchFamily="18" charset="0"/>
              </a:rPr>
              <a:t>Llama</a:t>
            </a:r>
            <a:r>
              <a:rPr lang="tr-TR" sz="1500" b="1" dirty="0">
                <a:ln w="0"/>
                <a:latin typeface="Times New Roman" panose="02020603050405020304" pitchFamily="18" charset="0"/>
                <a:cs typeface="Times New Roman" panose="02020603050405020304" pitchFamily="18" charset="0"/>
              </a:rPr>
              <a:t> 3</a:t>
            </a:r>
            <a:endParaRPr lang="en-US" sz="1500" b="1" dirty="0">
              <a:ln w="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999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365125"/>
            <a:ext cx="8900604" cy="1325563"/>
          </a:xfrm>
        </p:spPr>
        <p:txBody>
          <a:bodyPr>
            <a:normAutofit/>
            <a:scene3d>
              <a:camera prst="orthographicFront"/>
              <a:lightRig rig="soft" dir="t">
                <a:rot lat="0" lon="0" rev="15600000"/>
              </a:lightRig>
            </a:scene3d>
            <a:sp3d extrusionH="57150" prstMaterial="softEdge">
              <a:bevelT w="25400" h="38100"/>
            </a:sp3d>
          </a:bodyPr>
          <a:lstStyle/>
          <a:p>
            <a:r>
              <a:rPr lang="tr-TR" sz="33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4.2. </a:t>
            </a:r>
            <a:r>
              <a:rPr lang="tr-TR" sz="3300" b="1"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LoRA</a:t>
            </a:r>
            <a:r>
              <a:rPr lang="tr-TR" sz="33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tr-TR" sz="3300" b="1"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Congifuration</a:t>
            </a:r>
            <a:r>
              <a:rPr lang="tr-TR" sz="33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(PEFT)</a:t>
            </a:r>
            <a:br>
              <a:rPr lang="tr-TR" sz="4800" b="1" dirty="0">
                <a:latin typeface="Times New Roman" panose="02020603050405020304" pitchFamily="18" charset="0"/>
                <a:cs typeface="Times New Roman" panose="02020603050405020304" pitchFamily="18" charset="0"/>
              </a:rPr>
            </a:b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03D80E5-06B3-60C8-3DBE-6925B991E9E5}"/>
              </a:ext>
            </a:extLst>
          </p:cNvPr>
          <p:cNvSpPr txBox="1">
            <a:spLocks/>
          </p:cNvSpPr>
          <p:nvPr/>
        </p:nvSpPr>
        <p:spPr>
          <a:xfrm>
            <a:off x="1021772" y="2141537"/>
            <a:ext cx="1014845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Aft>
                <a:spcPts val="1200"/>
              </a:spcAft>
              <a:buFont typeface="Arial" panose="020B0604020202020204" pitchFamily="34" charset="0"/>
              <a:buNone/>
            </a:pPr>
            <a:endParaRPr lang="tr-TR" sz="1800" b="1" dirty="0">
              <a:latin typeface="Times New Roman" panose="02020603050405020304" pitchFamily="18" charset="0"/>
              <a:cs typeface="Times New Roman" panose="02020603050405020304" pitchFamily="18" charset="0"/>
            </a:endParaRPr>
          </a:p>
        </p:txBody>
      </p:sp>
      <p:sp>
        <p:nvSpPr>
          <p:cNvPr id="12" name="Rectangle 2">
            <a:extLst>
              <a:ext uri="{FF2B5EF4-FFF2-40B4-BE49-F238E27FC236}">
                <a16:creationId xmlns:a16="http://schemas.microsoft.com/office/drawing/2014/main" id="{588C6B67-ED36-65E8-9F12-5BD2333FE00F}"/>
              </a:ext>
            </a:extLst>
          </p:cNvPr>
          <p:cNvSpPr>
            <a:spLocks noGrp="1" noChangeArrowheads="1"/>
          </p:cNvSpPr>
          <p:nvPr>
            <p:ph idx="1"/>
          </p:nvPr>
        </p:nvSpPr>
        <p:spPr bwMode="auto">
          <a:xfrm>
            <a:off x="725234" y="1952768"/>
            <a:ext cx="10741530" cy="212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a:buNone/>
            </a:pPr>
            <a:r>
              <a:rPr lang="en-GB" sz="1800" dirty="0"/>
              <a:t>Instead of updating </a:t>
            </a:r>
            <a:r>
              <a:rPr lang="en-GB" sz="1800" b="1" dirty="0"/>
              <a:t>all weights</a:t>
            </a:r>
            <a:r>
              <a:rPr lang="en-GB" sz="1800" dirty="0"/>
              <a:t> in a pretrained model (which is expensive), </a:t>
            </a:r>
            <a:r>
              <a:rPr lang="en-GB" sz="1800" dirty="0" err="1"/>
              <a:t>LoRA</a:t>
            </a:r>
            <a:r>
              <a:rPr lang="en-GB" sz="1800" dirty="0"/>
              <a:t>:</a:t>
            </a:r>
          </a:p>
          <a:p>
            <a:pPr>
              <a:buFont typeface="Arial" panose="020B0604020202020204" pitchFamily="34" charset="0"/>
              <a:buChar char="•"/>
            </a:pPr>
            <a:r>
              <a:rPr lang="en-GB" sz="1800" b="1" dirty="0"/>
              <a:t>Freezes</a:t>
            </a:r>
            <a:r>
              <a:rPr lang="en-GB" sz="1800" dirty="0"/>
              <a:t> the original model weights.</a:t>
            </a:r>
          </a:p>
          <a:p>
            <a:pPr>
              <a:buFont typeface="Arial" panose="020B0604020202020204" pitchFamily="34" charset="0"/>
              <a:buChar char="•"/>
            </a:pPr>
            <a:r>
              <a:rPr lang="en-GB" sz="1800" b="1" dirty="0"/>
              <a:t>Injects small trainable "adapter" layers</a:t>
            </a:r>
            <a:r>
              <a:rPr lang="en-GB" sz="1800" dirty="0"/>
              <a:t> into certain linear layers (like attention projections).</a:t>
            </a:r>
          </a:p>
          <a:p>
            <a:pPr>
              <a:buFont typeface="Arial" panose="020B0604020202020204" pitchFamily="34" charset="0"/>
              <a:buChar char="•"/>
            </a:pPr>
            <a:r>
              <a:rPr lang="en-GB" sz="1800" dirty="0"/>
              <a:t>These adapter layers are </a:t>
            </a:r>
            <a:r>
              <a:rPr lang="en-GB" sz="1800" b="1" dirty="0"/>
              <a:t>low-rank matrices</a:t>
            </a:r>
            <a:r>
              <a:rPr lang="en-GB" sz="1800" dirty="0"/>
              <a:t> that learn only the delta (change) to the original model's </a:t>
            </a:r>
            <a:r>
              <a:rPr lang="en-GB" sz="1800" dirty="0" err="1"/>
              <a:t>behavior</a:t>
            </a:r>
            <a:r>
              <a:rPr lang="en-GB" sz="1800" dirty="0"/>
              <a:t>.</a:t>
            </a:r>
            <a:endParaRPr lang="tr-TR" sz="1800" dirty="0"/>
          </a:p>
          <a:p>
            <a:pPr>
              <a:buFont typeface="Arial" panose="020B0604020202020204" pitchFamily="34" charset="0"/>
              <a:buChar char="•"/>
            </a:pPr>
            <a:r>
              <a:rPr lang="tr-TR" sz="1800" dirty="0" err="1"/>
              <a:t>Reduces</a:t>
            </a:r>
            <a:r>
              <a:rPr lang="tr-TR" sz="1800" dirty="0"/>
              <a:t> </a:t>
            </a:r>
            <a:r>
              <a:rPr lang="tr-TR" sz="1800" dirty="0" err="1"/>
              <a:t>trainable</a:t>
            </a:r>
            <a:r>
              <a:rPr lang="tr-TR" sz="1800" dirty="0"/>
              <a:t> </a:t>
            </a:r>
            <a:r>
              <a:rPr lang="tr-TR" sz="1800" dirty="0" err="1"/>
              <a:t>parameter</a:t>
            </a:r>
            <a:r>
              <a:rPr lang="tr-TR" sz="1800" dirty="0"/>
              <a:t> size. </a:t>
            </a:r>
            <a:endParaRPr lang="en-GB" sz="1800" dirty="0"/>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1600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14"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786384" y="3566810"/>
            <a:ext cx="2905400" cy="2651110"/>
          </a:xfrm>
        </p:spPr>
        <p:txBody>
          <a:bodyPr anchor="ctr">
            <a:normAutofit/>
          </a:bodyPr>
          <a:lstStyle/>
          <a:p>
            <a:pPr marL="0" indent="0">
              <a:spcAft>
                <a:spcPts val="1200"/>
              </a:spcAft>
              <a:buNone/>
            </a:pPr>
            <a:r>
              <a:rPr lang="tr-TR" sz="3300" b="1" dirty="0">
                <a:solidFill>
                  <a:schemeClr val="tx2"/>
                </a:solidFill>
                <a:latin typeface="Times New Roman" panose="02020603050405020304" pitchFamily="18" charset="0"/>
                <a:cs typeface="Times New Roman" panose="02020603050405020304" pitchFamily="18" charset="0"/>
              </a:rPr>
              <a:t>4</a:t>
            </a:r>
            <a:r>
              <a:rPr lang="en-US" sz="3300" b="1" dirty="0">
                <a:solidFill>
                  <a:schemeClr val="tx2"/>
                </a:solidFill>
                <a:latin typeface="Times New Roman" panose="02020603050405020304" pitchFamily="18" charset="0"/>
                <a:cs typeface="Times New Roman" panose="02020603050405020304" pitchFamily="18" charset="0"/>
              </a:rPr>
              <a:t>.</a:t>
            </a:r>
            <a:r>
              <a:rPr lang="tr-TR" sz="3300" b="1" dirty="0">
                <a:solidFill>
                  <a:schemeClr val="tx2"/>
                </a:solidFill>
                <a:latin typeface="Times New Roman" panose="02020603050405020304" pitchFamily="18" charset="0"/>
                <a:cs typeface="Times New Roman" panose="02020603050405020304" pitchFamily="18" charset="0"/>
              </a:rPr>
              <a:t>2</a:t>
            </a:r>
            <a:r>
              <a:rPr lang="en-US" sz="3300" b="1" dirty="0">
                <a:solidFill>
                  <a:schemeClr val="tx2"/>
                </a:solidFill>
                <a:latin typeface="Times New Roman" panose="02020603050405020304" pitchFamily="18" charset="0"/>
                <a:cs typeface="Times New Roman" panose="02020603050405020304" pitchFamily="18" charset="0"/>
              </a:rPr>
              <a:t>. </a:t>
            </a:r>
            <a:r>
              <a:rPr lang="tr-TR" sz="3300" b="1" dirty="0" err="1">
                <a:solidFill>
                  <a:schemeClr val="tx2"/>
                </a:solidFill>
                <a:latin typeface="Times New Roman" panose="02020603050405020304" pitchFamily="18" charset="0"/>
                <a:cs typeface="Times New Roman" panose="02020603050405020304" pitchFamily="18" charset="0"/>
              </a:rPr>
              <a:t>Fine-Tuning</a:t>
            </a:r>
            <a:r>
              <a:rPr lang="tr-TR" sz="3300" b="1" dirty="0">
                <a:solidFill>
                  <a:schemeClr val="tx2"/>
                </a:solidFill>
                <a:latin typeface="Times New Roman" panose="02020603050405020304" pitchFamily="18" charset="0"/>
                <a:cs typeface="Times New Roman" panose="02020603050405020304" pitchFamily="18" charset="0"/>
              </a:rPr>
              <a:t> </a:t>
            </a:r>
            <a:r>
              <a:rPr lang="tr-TR" sz="3300" b="1" dirty="0" err="1">
                <a:solidFill>
                  <a:schemeClr val="tx2"/>
                </a:solidFill>
                <a:latin typeface="Times New Roman" panose="02020603050405020304" pitchFamily="18" charset="0"/>
                <a:cs typeface="Times New Roman" panose="02020603050405020304" pitchFamily="18" charset="0"/>
              </a:rPr>
              <a:t>Process</a:t>
            </a:r>
            <a:r>
              <a:rPr lang="tr-TR" sz="3300" b="1" dirty="0">
                <a:solidFill>
                  <a:schemeClr val="tx2"/>
                </a:solidFill>
                <a:latin typeface="Times New Roman" panose="02020603050405020304" pitchFamily="18" charset="0"/>
                <a:cs typeface="Times New Roman" panose="02020603050405020304" pitchFamily="18" charset="0"/>
              </a:rPr>
              <a:t>:</a:t>
            </a:r>
          </a:p>
          <a:p>
            <a:pPr marL="0" indent="0">
              <a:spcAft>
                <a:spcPts val="1200"/>
              </a:spcAft>
              <a:buNone/>
            </a:pPr>
            <a:endParaRPr lang="en-US" sz="1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4" name="Tablo 3">
            <a:extLst>
              <a:ext uri="{FF2B5EF4-FFF2-40B4-BE49-F238E27FC236}">
                <a16:creationId xmlns:a16="http://schemas.microsoft.com/office/drawing/2014/main" id="{A88E7736-306B-1333-65A5-C3566E57EE75}"/>
              </a:ext>
            </a:extLst>
          </p:cNvPr>
          <p:cNvGraphicFramePr>
            <a:graphicFrameLocks noGrp="1"/>
          </p:cNvGraphicFramePr>
          <p:nvPr>
            <p:extLst>
              <p:ext uri="{D42A27DB-BD31-4B8C-83A1-F6EECF244321}">
                <p14:modId xmlns:p14="http://schemas.microsoft.com/office/powerpoint/2010/main" val="2052770378"/>
              </p:ext>
            </p:extLst>
          </p:nvPr>
        </p:nvGraphicFramePr>
        <p:xfrm>
          <a:off x="4478168" y="350378"/>
          <a:ext cx="7055697" cy="6440743"/>
        </p:xfrm>
        <a:graphic>
          <a:graphicData uri="http://schemas.openxmlformats.org/drawingml/2006/table">
            <a:tbl>
              <a:tblPr>
                <a:tableStyleId>{0E3FDE45-AF77-4B5C-9715-49D594BDF05E}</a:tableStyleId>
              </a:tblPr>
              <a:tblGrid>
                <a:gridCol w="1919327">
                  <a:extLst>
                    <a:ext uri="{9D8B030D-6E8A-4147-A177-3AD203B41FA5}">
                      <a16:colId xmlns:a16="http://schemas.microsoft.com/office/drawing/2014/main" val="3969352787"/>
                    </a:ext>
                  </a:extLst>
                </a:gridCol>
                <a:gridCol w="2493623">
                  <a:extLst>
                    <a:ext uri="{9D8B030D-6E8A-4147-A177-3AD203B41FA5}">
                      <a16:colId xmlns:a16="http://schemas.microsoft.com/office/drawing/2014/main" val="19896389"/>
                    </a:ext>
                  </a:extLst>
                </a:gridCol>
                <a:gridCol w="2642747">
                  <a:extLst>
                    <a:ext uri="{9D8B030D-6E8A-4147-A177-3AD203B41FA5}">
                      <a16:colId xmlns:a16="http://schemas.microsoft.com/office/drawing/2014/main" val="525974846"/>
                    </a:ext>
                  </a:extLst>
                </a:gridCol>
              </a:tblGrid>
              <a:tr h="292882">
                <a:tc>
                  <a:txBody>
                    <a:bodyPr/>
                    <a:lstStyle/>
                    <a:p>
                      <a:r>
                        <a:rPr lang="en-GB" sz="1500" b="1"/>
                        <a:t>Category</a:t>
                      </a:r>
                      <a:endParaRPr lang="en-GB" sz="1500"/>
                    </a:p>
                  </a:txBody>
                  <a:tcPr marL="46219" marR="46219" marT="23110" marB="23110" anchor="ctr"/>
                </a:tc>
                <a:tc>
                  <a:txBody>
                    <a:bodyPr/>
                    <a:lstStyle/>
                    <a:p>
                      <a:r>
                        <a:rPr lang="en-GB" sz="1500" b="1"/>
                        <a:t>Parameter</a:t>
                      </a:r>
                      <a:endParaRPr lang="en-GB" sz="1500"/>
                    </a:p>
                  </a:txBody>
                  <a:tcPr marL="46219" marR="46219" marT="23110" marB="23110" anchor="ctr"/>
                </a:tc>
                <a:tc>
                  <a:txBody>
                    <a:bodyPr/>
                    <a:lstStyle/>
                    <a:p>
                      <a:r>
                        <a:rPr lang="en-GB" sz="1500" b="1"/>
                        <a:t>Value</a:t>
                      </a:r>
                      <a:endParaRPr lang="en-GB" sz="1500"/>
                    </a:p>
                  </a:txBody>
                  <a:tcPr marL="46219" marR="46219" marT="23110" marB="23110" anchor="ctr"/>
                </a:tc>
                <a:extLst>
                  <a:ext uri="{0D108BD9-81ED-4DB2-BD59-A6C34878D82A}">
                    <a16:rowId xmlns:a16="http://schemas.microsoft.com/office/drawing/2014/main" val="3250562808"/>
                  </a:ext>
                </a:extLst>
              </a:tr>
              <a:tr h="536507">
                <a:tc>
                  <a:txBody>
                    <a:bodyPr/>
                    <a:lstStyle/>
                    <a:p>
                      <a:r>
                        <a:rPr lang="en-GB" sz="1500" b="1" dirty="0"/>
                        <a:t>Model</a:t>
                      </a:r>
                      <a:endParaRPr lang="en-GB" sz="1500" dirty="0"/>
                    </a:p>
                  </a:txBody>
                  <a:tcPr marL="46219" marR="46219" marT="23110" marB="23110" anchor="ctr"/>
                </a:tc>
                <a:tc>
                  <a:txBody>
                    <a:bodyPr/>
                    <a:lstStyle/>
                    <a:p>
                      <a:r>
                        <a:rPr lang="en-GB" sz="1500"/>
                        <a:t>Base Model</a:t>
                      </a:r>
                    </a:p>
                  </a:txBody>
                  <a:tcPr marL="46219" marR="46219" marT="23110" marB="23110" anchor="ctr"/>
                </a:tc>
                <a:tc>
                  <a:txBody>
                    <a:bodyPr/>
                    <a:lstStyle/>
                    <a:p>
                      <a:r>
                        <a:rPr lang="en-GB" sz="1500"/>
                        <a:t>meta-llama/Meta-Llama-3-8B-Instruct</a:t>
                      </a:r>
                    </a:p>
                  </a:txBody>
                  <a:tcPr marL="46219" marR="46219" marT="23110" marB="23110" anchor="ctr"/>
                </a:tc>
                <a:extLst>
                  <a:ext uri="{0D108BD9-81ED-4DB2-BD59-A6C34878D82A}">
                    <a16:rowId xmlns:a16="http://schemas.microsoft.com/office/drawing/2014/main" val="4093884814"/>
                  </a:ext>
                </a:extLst>
              </a:tr>
              <a:tr h="292882">
                <a:tc>
                  <a:txBody>
                    <a:bodyPr/>
                    <a:lstStyle/>
                    <a:p>
                      <a:endParaRPr lang="en-GB" sz="1500" dirty="0"/>
                    </a:p>
                  </a:txBody>
                  <a:tcPr marL="46219" marR="46219" marT="23110" marB="23110" anchor="ctr"/>
                </a:tc>
                <a:tc>
                  <a:txBody>
                    <a:bodyPr/>
                    <a:lstStyle/>
                    <a:p>
                      <a:r>
                        <a:rPr lang="en-GB" sz="1500" dirty="0"/>
                        <a:t>Quantization</a:t>
                      </a:r>
                    </a:p>
                  </a:txBody>
                  <a:tcPr marL="46219" marR="46219" marT="23110" marB="23110" anchor="ctr"/>
                </a:tc>
                <a:tc>
                  <a:txBody>
                    <a:bodyPr/>
                    <a:lstStyle/>
                    <a:p>
                      <a:r>
                        <a:rPr lang="en-GB" sz="1500"/>
                        <a:t>4-bit (NF4), bfloat16</a:t>
                      </a:r>
                    </a:p>
                  </a:txBody>
                  <a:tcPr marL="46219" marR="46219" marT="23110" marB="23110" anchor="ctr"/>
                </a:tc>
                <a:extLst>
                  <a:ext uri="{0D108BD9-81ED-4DB2-BD59-A6C34878D82A}">
                    <a16:rowId xmlns:a16="http://schemas.microsoft.com/office/drawing/2014/main" val="1921331101"/>
                  </a:ext>
                </a:extLst>
              </a:tr>
              <a:tr h="536507">
                <a:tc>
                  <a:txBody>
                    <a:bodyPr/>
                    <a:lstStyle/>
                    <a:p>
                      <a:endParaRPr lang="en-GB" sz="1500"/>
                    </a:p>
                  </a:txBody>
                  <a:tcPr marL="46219" marR="46219" marT="23110" marB="23110" anchor="ctr"/>
                </a:tc>
                <a:tc>
                  <a:txBody>
                    <a:bodyPr/>
                    <a:lstStyle/>
                    <a:p>
                      <a:r>
                        <a:rPr lang="en-GB" sz="1500" dirty="0"/>
                        <a:t>Tokenizer</a:t>
                      </a:r>
                    </a:p>
                  </a:txBody>
                  <a:tcPr marL="46219" marR="46219" marT="23110" marB="23110" anchor="ctr"/>
                </a:tc>
                <a:tc>
                  <a:txBody>
                    <a:bodyPr/>
                    <a:lstStyle/>
                    <a:p>
                      <a:r>
                        <a:rPr lang="en-GB" sz="1500" dirty="0" err="1"/>
                        <a:t>AutoTokenizer</a:t>
                      </a:r>
                      <a:r>
                        <a:rPr lang="en-GB" sz="1500" dirty="0"/>
                        <a:t> with </a:t>
                      </a:r>
                      <a:r>
                        <a:rPr lang="en-GB" sz="1500" dirty="0" err="1"/>
                        <a:t>apply_chat_template</a:t>
                      </a:r>
                      <a:r>
                        <a:rPr lang="en-GB" sz="1500" dirty="0"/>
                        <a:t>()</a:t>
                      </a:r>
                    </a:p>
                  </a:txBody>
                  <a:tcPr marL="46219" marR="46219" marT="23110" marB="23110" anchor="ctr"/>
                </a:tc>
                <a:extLst>
                  <a:ext uri="{0D108BD9-81ED-4DB2-BD59-A6C34878D82A}">
                    <a16:rowId xmlns:a16="http://schemas.microsoft.com/office/drawing/2014/main" val="3633153778"/>
                  </a:ext>
                </a:extLst>
              </a:tr>
              <a:tr h="292882">
                <a:tc>
                  <a:txBody>
                    <a:bodyPr/>
                    <a:lstStyle/>
                    <a:p>
                      <a:endParaRPr lang="en-GB" sz="1500" dirty="0"/>
                    </a:p>
                  </a:txBody>
                  <a:tcPr marL="46219" marR="46219" marT="23110" marB="23110" anchor="ctr"/>
                </a:tc>
                <a:tc>
                  <a:txBody>
                    <a:bodyPr/>
                    <a:lstStyle/>
                    <a:p>
                      <a:r>
                        <a:rPr lang="en-GB" sz="1500"/>
                        <a:t>Max Token Length</a:t>
                      </a:r>
                    </a:p>
                  </a:txBody>
                  <a:tcPr marL="46219" marR="46219" marT="23110" marB="23110" anchor="ctr"/>
                </a:tc>
                <a:tc>
                  <a:txBody>
                    <a:bodyPr/>
                    <a:lstStyle/>
                    <a:p>
                      <a:r>
                        <a:rPr lang="en-GB" sz="1500" dirty="0"/>
                        <a:t>1024</a:t>
                      </a:r>
                    </a:p>
                  </a:txBody>
                  <a:tcPr marL="46219" marR="46219" marT="23110" marB="23110" anchor="ctr"/>
                </a:tc>
                <a:extLst>
                  <a:ext uri="{0D108BD9-81ED-4DB2-BD59-A6C34878D82A}">
                    <a16:rowId xmlns:a16="http://schemas.microsoft.com/office/drawing/2014/main" val="273313008"/>
                  </a:ext>
                </a:extLst>
              </a:tr>
              <a:tr h="292882">
                <a:tc>
                  <a:txBody>
                    <a:bodyPr/>
                    <a:lstStyle/>
                    <a:p>
                      <a:r>
                        <a:rPr lang="en-GB" sz="1500" b="1"/>
                        <a:t>LoRA (PEFT)</a:t>
                      </a:r>
                      <a:endParaRPr lang="en-GB" sz="1500"/>
                    </a:p>
                  </a:txBody>
                  <a:tcPr marL="46219" marR="46219" marT="23110" marB="23110" anchor="ctr"/>
                </a:tc>
                <a:tc>
                  <a:txBody>
                    <a:bodyPr/>
                    <a:lstStyle/>
                    <a:p>
                      <a:r>
                        <a:rPr lang="en-GB" sz="1500"/>
                        <a:t>Rank (r)</a:t>
                      </a:r>
                    </a:p>
                  </a:txBody>
                  <a:tcPr marL="46219" marR="46219" marT="23110" marB="23110" anchor="ctr"/>
                </a:tc>
                <a:tc>
                  <a:txBody>
                    <a:bodyPr/>
                    <a:lstStyle/>
                    <a:p>
                      <a:r>
                        <a:rPr lang="en-GB" sz="1500" dirty="0"/>
                        <a:t>64</a:t>
                      </a:r>
                    </a:p>
                  </a:txBody>
                  <a:tcPr marL="46219" marR="46219" marT="23110" marB="23110" anchor="ctr"/>
                </a:tc>
                <a:extLst>
                  <a:ext uri="{0D108BD9-81ED-4DB2-BD59-A6C34878D82A}">
                    <a16:rowId xmlns:a16="http://schemas.microsoft.com/office/drawing/2014/main" val="188926260"/>
                  </a:ext>
                </a:extLst>
              </a:tr>
              <a:tr h="292882">
                <a:tc>
                  <a:txBody>
                    <a:bodyPr/>
                    <a:lstStyle/>
                    <a:p>
                      <a:endParaRPr lang="en-GB" sz="1500"/>
                    </a:p>
                  </a:txBody>
                  <a:tcPr marL="46219" marR="46219" marT="23110" marB="23110" anchor="ctr"/>
                </a:tc>
                <a:tc>
                  <a:txBody>
                    <a:bodyPr/>
                    <a:lstStyle/>
                    <a:p>
                      <a:r>
                        <a:rPr lang="en-GB" sz="1500"/>
                        <a:t>Alpha</a:t>
                      </a:r>
                    </a:p>
                  </a:txBody>
                  <a:tcPr marL="46219" marR="46219" marT="23110" marB="23110" anchor="ctr"/>
                </a:tc>
                <a:tc>
                  <a:txBody>
                    <a:bodyPr/>
                    <a:lstStyle/>
                    <a:p>
                      <a:r>
                        <a:rPr lang="en-GB" sz="1500"/>
                        <a:t>16</a:t>
                      </a:r>
                    </a:p>
                  </a:txBody>
                  <a:tcPr marL="46219" marR="46219" marT="23110" marB="23110" anchor="ctr"/>
                </a:tc>
                <a:extLst>
                  <a:ext uri="{0D108BD9-81ED-4DB2-BD59-A6C34878D82A}">
                    <a16:rowId xmlns:a16="http://schemas.microsoft.com/office/drawing/2014/main" val="47682423"/>
                  </a:ext>
                </a:extLst>
              </a:tr>
              <a:tr h="292882">
                <a:tc>
                  <a:txBody>
                    <a:bodyPr/>
                    <a:lstStyle/>
                    <a:p>
                      <a:endParaRPr lang="en-GB" sz="1500"/>
                    </a:p>
                  </a:txBody>
                  <a:tcPr marL="46219" marR="46219" marT="23110" marB="23110" anchor="ctr"/>
                </a:tc>
                <a:tc>
                  <a:txBody>
                    <a:bodyPr/>
                    <a:lstStyle/>
                    <a:p>
                      <a:r>
                        <a:rPr lang="en-GB" sz="1500"/>
                        <a:t>Dropout</a:t>
                      </a:r>
                    </a:p>
                  </a:txBody>
                  <a:tcPr marL="46219" marR="46219" marT="23110" marB="23110" anchor="ctr"/>
                </a:tc>
                <a:tc>
                  <a:txBody>
                    <a:bodyPr/>
                    <a:lstStyle/>
                    <a:p>
                      <a:r>
                        <a:rPr lang="en-GB" sz="1500"/>
                        <a:t>0.05</a:t>
                      </a:r>
                    </a:p>
                  </a:txBody>
                  <a:tcPr marL="46219" marR="46219" marT="23110" marB="23110" anchor="ctr"/>
                </a:tc>
                <a:extLst>
                  <a:ext uri="{0D108BD9-81ED-4DB2-BD59-A6C34878D82A}">
                    <a16:rowId xmlns:a16="http://schemas.microsoft.com/office/drawing/2014/main" val="2331510559"/>
                  </a:ext>
                </a:extLst>
              </a:tr>
              <a:tr h="780131">
                <a:tc>
                  <a:txBody>
                    <a:bodyPr/>
                    <a:lstStyle/>
                    <a:p>
                      <a:r>
                        <a:rPr lang="en-GB" sz="1500" b="1" dirty="0"/>
                        <a:t>Training </a:t>
                      </a:r>
                      <a:r>
                        <a:rPr lang="en-GB" sz="1500" b="1" dirty="0" err="1"/>
                        <a:t>Args</a:t>
                      </a:r>
                      <a:endParaRPr lang="en-GB" sz="1500" dirty="0"/>
                    </a:p>
                  </a:txBody>
                  <a:tcPr marL="46219" marR="46219" marT="23110" marB="23110" anchor="ctr"/>
                </a:tc>
                <a:tc>
                  <a:txBody>
                    <a:bodyPr/>
                    <a:lstStyle/>
                    <a:p>
                      <a:r>
                        <a:rPr lang="en-GB" sz="1500" dirty="0"/>
                        <a:t>Batch Size</a:t>
                      </a:r>
                    </a:p>
                  </a:txBody>
                  <a:tcPr marL="46219" marR="46219" marT="23110" marB="23110" anchor="ctr"/>
                </a:tc>
                <a:tc>
                  <a:txBody>
                    <a:bodyPr/>
                    <a:lstStyle/>
                    <a:p>
                      <a:r>
                        <a:rPr lang="en-GB" sz="1500" dirty="0"/>
                        <a:t>1 (with </a:t>
                      </a:r>
                      <a:r>
                        <a:rPr lang="en-GB" sz="1500" dirty="0" err="1"/>
                        <a:t>gradient_accumulation_steps</a:t>
                      </a:r>
                      <a:r>
                        <a:rPr lang="en-GB" sz="1500" dirty="0"/>
                        <a:t>=8)</a:t>
                      </a:r>
                    </a:p>
                  </a:txBody>
                  <a:tcPr marL="46219" marR="46219" marT="23110" marB="23110" anchor="ctr"/>
                </a:tc>
                <a:extLst>
                  <a:ext uri="{0D108BD9-81ED-4DB2-BD59-A6C34878D82A}">
                    <a16:rowId xmlns:a16="http://schemas.microsoft.com/office/drawing/2014/main" val="947205109"/>
                  </a:ext>
                </a:extLst>
              </a:tr>
              <a:tr h="292882">
                <a:tc>
                  <a:txBody>
                    <a:bodyPr/>
                    <a:lstStyle/>
                    <a:p>
                      <a:endParaRPr lang="en-GB" sz="1500"/>
                    </a:p>
                  </a:txBody>
                  <a:tcPr marL="46219" marR="46219" marT="23110" marB="23110" anchor="ctr"/>
                </a:tc>
                <a:tc>
                  <a:txBody>
                    <a:bodyPr/>
                    <a:lstStyle/>
                    <a:p>
                      <a:r>
                        <a:rPr lang="en-GB" sz="1500" dirty="0"/>
                        <a:t>Epochs</a:t>
                      </a:r>
                    </a:p>
                  </a:txBody>
                  <a:tcPr marL="46219" marR="46219" marT="23110" marB="23110" anchor="ctr"/>
                </a:tc>
                <a:tc>
                  <a:txBody>
                    <a:bodyPr/>
                    <a:lstStyle/>
                    <a:p>
                      <a:r>
                        <a:rPr lang="en-GB" sz="1500" dirty="0"/>
                        <a:t>3</a:t>
                      </a:r>
                    </a:p>
                  </a:txBody>
                  <a:tcPr marL="46219" marR="46219" marT="23110" marB="23110" anchor="ctr"/>
                </a:tc>
                <a:extLst>
                  <a:ext uri="{0D108BD9-81ED-4DB2-BD59-A6C34878D82A}">
                    <a16:rowId xmlns:a16="http://schemas.microsoft.com/office/drawing/2014/main" val="2188724051"/>
                  </a:ext>
                </a:extLst>
              </a:tr>
              <a:tr h="292882">
                <a:tc>
                  <a:txBody>
                    <a:bodyPr/>
                    <a:lstStyle/>
                    <a:p>
                      <a:endParaRPr lang="en-GB" sz="1500"/>
                    </a:p>
                  </a:txBody>
                  <a:tcPr marL="46219" marR="46219" marT="23110" marB="23110" anchor="ctr"/>
                </a:tc>
                <a:tc>
                  <a:txBody>
                    <a:bodyPr/>
                    <a:lstStyle/>
                    <a:p>
                      <a:r>
                        <a:rPr lang="en-GB" sz="1500"/>
                        <a:t>Learning Rate</a:t>
                      </a:r>
                    </a:p>
                  </a:txBody>
                  <a:tcPr marL="46219" marR="46219" marT="23110" marB="23110" anchor="ctr"/>
                </a:tc>
                <a:tc>
                  <a:txBody>
                    <a:bodyPr/>
                    <a:lstStyle/>
                    <a:p>
                      <a:r>
                        <a:rPr lang="en-GB" sz="1500"/>
                        <a:t>2e-4</a:t>
                      </a:r>
                    </a:p>
                  </a:txBody>
                  <a:tcPr marL="46219" marR="46219" marT="23110" marB="23110" anchor="ctr"/>
                </a:tc>
                <a:extLst>
                  <a:ext uri="{0D108BD9-81ED-4DB2-BD59-A6C34878D82A}">
                    <a16:rowId xmlns:a16="http://schemas.microsoft.com/office/drawing/2014/main" val="260666914"/>
                  </a:ext>
                </a:extLst>
              </a:tr>
              <a:tr h="292882">
                <a:tc>
                  <a:txBody>
                    <a:bodyPr/>
                    <a:lstStyle/>
                    <a:p>
                      <a:endParaRPr lang="en-GB" sz="1500"/>
                    </a:p>
                  </a:txBody>
                  <a:tcPr marL="46219" marR="46219" marT="23110" marB="23110" anchor="ctr"/>
                </a:tc>
                <a:tc>
                  <a:txBody>
                    <a:bodyPr/>
                    <a:lstStyle/>
                    <a:p>
                      <a:r>
                        <a:rPr lang="en-GB" sz="1500"/>
                        <a:t>Precision</a:t>
                      </a:r>
                    </a:p>
                  </a:txBody>
                  <a:tcPr marL="46219" marR="46219" marT="23110" marB="23110" anchor="ctr"/>
                </a:tc>
                <a:tc>
                  <a:txBody>
                    <a:bodyPr/>
                    <a:lstStyle/>
                    <a:p>
                      <a:r>
                        <a:rPr lang="en-GB" sz="1500"/>
                        <a:t>FP16</a:t>
                      </a:r>
                    </a:p>
                  </a:txBody>
                  <a:tcPr marL="46219" marR="46219" marT="23110" marB="23110" anchor="ctr"/>
                </a:tc>
                <a:extLst>
                  <a:ext uri="{0D108BD9-81ED-4DB2-BD59-A6C34878D82A}">
                    <a16:rowId xmlns:a16="http://schemas.microsoft.com/office/drawing/2014/main" val="4197352968"/>
                  </a:ext>
                </a:extLst>
              </a:tr>
              <a:tr h="292882">
                <a:tc>
                  <a:txBody>
                    <a:bodyPr/>
                    <a:lstStyle/>
                    <a:p>
                      <a:endParaRPr lang="en-GB" sz="1500" dirty="0"/>
                    </a:p>
                  </a:txBody>
                  <a:tcPr marL="46219" marR="46219" marT="23110" marB="23110" anchor="ctr"/>
                </a:tc>
                <a:tc>
                  <a:txBody>
                    <a:bodyPr/>
                    <a:lstStyle/>
                    <a:p>
                      <a:r>
                        <a:rPr lang="en-GB" sz="1500"/>
                        <a:t>Eval Strategy</a:t>
                      </a:r>
                    </a:p>
                  </a:txBody>
                  <a:tcPr marL="46219" marR="46219" marT="23110" marB="23110" anchor="ctr"/>
                </a:tc>
                <a:tc>
                  <a:txBody>
                    <a:bodyPr/>
                    <a:lstStyle/>
                    <a:p>
                      <a:r>
                        <a:rPr lang="en-GB" sz="1500"/>
                        <a:t>Every 250 steps</a:t>
                      </a:r>
                    </a:p>
                  </a:txBody>
                  <a:tcPr marL="46219" marR="46219" marT="23110" marB="23110" anchor="ctr"/>
                </a:tc>
                <a:extLst>
                  <a:ext uri="{0D108BD9-81ED-4DB2-BD59-A6C34878D82A}">
                    <a16:rowId xmlns:a16="http://schemas.microsoft.com/office/drawing/2014/main" val="673366264"/>
                  </a:ext>
                </a:extLst>
              </a:tr>
              <a:tr h="292882">
                <a:tc>
                  <a:txBody>
                    <a:bodyPr/>
                    <a:lstStyle/>
                    <a:p>
                      <a:endParaRPr lang="en-GB" sz="1500" dirty="0"/>
                    </a:p>
                  </a:txBody>
                  <a:tcPr marL="46219" marR="46219" marT="23110" marB="23110" anchor="ctr"/>
                </a:tc>
                <a:tc>
                  <a:txBody>
                    <a:bodyPr/>
                    <a:lstStyle/>
                    <a:p>
                      <a:r>
                        <a:rPr lang="en-GB" sz="1500"/>
                        <a:t>Save Steps</a:t>
                      </a:r>
                    </a:p>
                  </a:txBody>
                  <a:tcPr marL="46219" marR="46219" marT="23110" marB="23110" anchor="ctr"/>
                </a:tc>
                <a:tc>
                  <a:txBody>
                    <a:bodyPr/>
                    <a:lstStyle/>
                    <a:p>
                      <a:r>
                        <a:rPr lang="en-GB" sz="1500" dirty="0"/>
                        <a:t>Every 500 steps (keep last 2)</a:t>
                      </a:r>
                    </a:p>
                  </a:txBody>
                  <a:tcPr marL="46219" marR="46219" marT="23110" marB="23110" anchor="ctr"/>
                </a:tc>
                <a:extLst>
                  <a:ext uri="{0D108BD9-81ED-4DB2-BD59-A6C34878D82A}">
                    <a16:rowId xmlns:a16="http://schemas.microsoft.com/office/drawing/2014/main" val="2743096219"/>
                  </a:ext>
                </a:extLst>
              </a:tr>
              <a:tr h="536507">
                <a:tc>
                  <a:txBody>
                    <a:bodyPr/>
                    <a:lstStyle/>
                    <a:p>
                      <a:endParaRPr lang="en-GB" sz="1500"/>
                    </a:p>
                  </a:txBody>
                  <a:tcPr marL="46219" marR="46219" marT="23110" marB="23110" anchor="ctr"/>
                </a:tc>
                <a:tc>
                  <a:txBody>
                    <a:bodyPr/>
                    <a:lstStyle/>
                    <a:p>
                      <a:r>
                        <a:rPr lang="en-GB" sz="1500"/>
                        <a:t>Best Model Metric</a:t>
                      </a:r>
                    </a:p>
                  </a:txBody>
                  <a:tcPr marL="46219" marR="46219" marT="23110" marB="23110" anchor="ctr"/>
                </a:tc>
                <a:tc>
                  <a:txBody>
                    <a:bodyPr/>
                    <a:lstStyle/>
                    <a:p>
                      <a:r>
                        <a:rPr lang="en-GB" sz="1500"/>
                        <a:t>Validation Loss (lower is better)</a:t>
                      </a:r>
                    </a:p>
                  </a:txBody>
                  <a:tcPr marL="46219" marR="46219" marT="23110" marB="23110" anchor="ctr"/>
                </a:tc>
                <a:extLst>
                  <a:ext uri="{0D108BD9-81ED-4DB2-BD59-A6C34878D82A}">
                    <a16:rowId xmlns:a16="http://schemas.microsoft.com/office/drawing/2014/main" val="1465374445"/>
                  </a:ext>
                </a:extLst>
              </a:tr>
              <a:tr h="292882">
                <a:tc>
                  <a:txBody>
                    <a:bodyPr/>
                    <a:lstStyle/>
                    <a:p>
                      <a:r>
                        <a:rPr lang="en-GB" sz="1500" b="1"/>
                        <a:t>Environment</a:t>
                      </a:r>
                      <a:endParaRPr lang="en-GB" sz="1500"/>
                    </a:p>
                  </a:txBody>
                  <a:tcPr marL="46219" marR="46219" marT="23110" marB="23110" anchor="ctr"/>
                </a:tc>
                <a:tc>
                  <a:txBody>
                    <a:bodyPr/>
                    <a:lstStyle/>
                    <a:p>
                      <a:r>
                        <a:rPr lang="en-GB" sz="1500"/>
                        <a:t>Platform</a:t>
                      </a:r>
                    </a:p>
                  </a:txBody>
                  <a:tcPr marL="46219" marR="46219" marT="23110" marB="23110" anchor="ctr"/>
                </a:tc>
                <a:tc>
                  <a:txBody>
                    <a:bodyPr/>
                    <a:lstStyle/>
                    <a:p>
                      <a:r>
                        <a:rPr lang="en-GB" sz="1500"/>
                        <a:t>Google Colab + A100 GPU</a:t>
                      </a:r>
                    </a:p>
                  </a:txBody>
                  <a:tcPr marL="46219" marR="46219" marT="23110" marB="23110" anchor="ctr"/>
                </a:tc>
                <a:extLst>
                  <a:ext uri="{0D108BD9-81ED-4DB2-BD59-A6C34878D82A}">
                    <a16:rowId xmlns:a16="http://schemas.microsoft.com/office/drawing/2014/main" val="3099579896"/>
                  </a:ext>
                </a:extLst>
              </a:tr>
              <a:tr h="536507">
                <a:tc>
                  <a:txBody>
                    <a:bodyPr/>
                    <a:lstStyle/>
                    <a:p>
                      <a:endParaRPr lang="en-GB" sz="1500"/>
                    </a:p>
                  </a:txBody>
                  <a:tcPr marL="46219" marR="46219" marT="23110" marB="23110" anchor="ctr"/>
                </a:tc>
                <a:tc>
                  <a:txBody>
                    <a:bodyPr/>
                    <a:lstStyle/>
                    <a:p>
                      <a:r>
                        <a:rPr lang="en-GB" sz="1500"/>
                        <a:t>Libraries Used</a:t>
                      </a:r>
                    </a:p>
                  </a:txBody>
                  <a:tcPr marL="46219" marR="46219" marT="23110" marB="23110" anchor="ctr"/>
                </a:tc>
                <a:tc>
                  <a:txBody>
                    <a:bodyPr/>
                    <a:lstStyle/>
                    <a:p>
                      <a:r>
                        <a:rPr lang="en-GB" sz="1500" dirty="0"/>
                        <a:t>transformers, </a:t>
                      </a:r>
                      <a:r>
                        <a:rPr lang="en-GB" sz="1500" dirty="0" err="1"/>
                        <a:t>peft</a:t>
                      </a:r>
                      <a:r>
                        <a:rPr lang="en-GB" sz="1500" dirty="0"/>
                        <a:t>, datasets, accelerate</a:t>
                      </a:r>
                    </a:p>
                  </a:txBody>
                  <a:tcPr marL="46219" marR="46219" marT="23110" marB="23110" anchor="ctr"/>
                </a:tc>
                <a:extLst>
                  <a:ext uri="{0D108BD9-81ED-4DB2-BD59-A6C34878D82A}">
                    <a16:rowId xmlns:a16="http://schemas.microsoft.com/office/drawing/2014/main" val="3772609190"/>
                  </a:ext>
                </a:extLst>
              </a:tr>
            </a:tbl>
          </a:graphicData>
        </a:graphic>
      </p:graphicFrame>
    </p:spTree>
    <p:extLst>
      <p:ext uri="{BB962C8B-B14F-4D97-AF65-F5344CB8AC3E}">
        <p14:creationId xmlns:p14="http://schemas.microsoft.com/office/powerpoint/2010/main" val="257999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246837" y="2103444"/>
            <a:ext cx="3128752" cy="4134427"/>
          </a:xfrm>
        </p:spPr>
        <p:txBody>
          <a:bodyPr anchor="ctr">
            <a:normAutofit/>
          </a:bodyPr>
          <a:lstStyle/>
          <a:p>
            <a:pPr marL="0" indent="0">
              <a:spcAft>
                <a:spcPts val="1200"/>
              </a:spcAft>
              <a:buNone/>
            </a:pPr>
            <a:r>
              <a:rPr lang="tr-TR" sz="3300" b="1" dirty="0">
                <a:solidFill>
                  <a:schemeClr val="tx2"/>
                </a:solidFill>
                <a:latin typeface="Times New Roman" panose="02020603050405020304" pitchFamily="18" charset="0"/>
                <a:cs typeface="Times New Roman" panose="02020603050405020304" pitchFamily="18" charset="0"/>
              </a:rPr>
              <a:t>4</a:t>
            </a:r>
            <a:r>
              <a:rPr lang="en-US" sz="3300" b="1" dirty="0">
                <a:solidFill>
                  <a:schemeClr val="tx2"/>
                </a:solidFill>
                <a:latin typeface="Times New Roman" panose="02020603050405020304" pitchFamily="18" charset="0"/>
                <a:cs typeface="Times New Roman" panose="02020603050405020304" pitchFamily="18" charset="0"/>
              </a:rPr>
              <a:t>.</a:t>
            </a:r>
            <a:r>
              <a:rPr lang="tr-TR" sz="3300" b="1" dirty="0">
                <a:solidFill>
                  <a:schemeClr val="tx2"/>
                </a:solidFill>
                <a:latin typeface="Times New Roman" panose="02020603050405020304" pitchFamily="18" charset="0"/>
                <a:cs typeface="Times New Roman" panose="02020603050405020304" pitchFamily="18" charset="0"/>
              </a:rPr>
              <a:t>2</a:t>
            </a:r>
            <a:r>
              <a:rPr lang="en-US" sz="3300" b="1" dirty="0">
                <a:solidFill>
                  <a:schemeClr val="tx2"/>
                </a:solidFill>
                <a:latin typeface="Times New Roman" panose="02020603050405020304" pitchFamily="18" charset="0"/>
                <a:cs typeface="Times New Roman" panose="02020603050405020304" pitchFamily="18" charset="0"/>
              </a:rPr>
              <a:t>. </a:t>
            </a:r>
            <a:r>
              <a:rPr lang="tr-TR" sz="3300" b="1" dirty="0" err="1">
                <a:solidFill>
                  <a:schemeClr val="tx2"/>
                </a:solidFill>
                <a:latin typeface="Times New Roman" panose="02020603050405020304" pitchFamily="18" charset="0"/>
                <a:cs typeface="Times New Roman" panose="02020603050405020304" pitchFamily="18" charset="0"/>
              </a:rPr>
              <a:t>Fine-Tuning</a:t>
            </a:r>
            <a:r>
              <a:rPr lang="tr-TR" sz="3300" b="1" dirty="0">
                <a:solidFill>
                  <a:schemeClr val="tx2"/>
                </a:solidFill>
                <a:latin typeface="Times New Roman" panose="02020603050405020304" pitchFamily="18" charset="0"/>
                <a:cs typeface="Times New Roman" panose="02020603050405020304" pitchFamily="18" charset="0"/>
              </a:rPr>
              <a:t> </a:t>
            </a:r>
            <a:r>
              <a:rPr lang="tr-TR" sz="3300" b="1" dirty="0" err="1">
                <a:solidFill>
                  <a:schemeClr val="tx2"/>
                </a:solidFill>
                <a:latin typeface="Times New Roman" panose="02020603050405020304" pitchFamily="18" charset="0"/>
                <a:cs typeface="Times New Roman" panose="02020603050405020304" pitchFamily="18" charset="0"/>
              </a:rPr>
              <a:t>Process</a:t>
            </a:r>
            <a:r>
              <a:rPr lang="tr-TR" sz="3300" b="1" dirty="0">
                <a:solidFill>
                  <a:schemeClr val="tx2"/>
                </a:solidFill>
                <a:latin typeface="Times New Roman" panose="02020603050405020304" pitchFamily="18" charset="0"/>
                <a:cs typeface="Times New Roman" panose="02020603050405020304" pitchFamily="18" charset="0"/>
              </a:rPr>
              <a:t>:</a:t>
            </a:r>
          </a:p>
          <a:p>
            <a:pPr>
              <a:spcAft>
                <a:spcPts val="1200"/>
              </a:spcAft>
              <a:buFont typeface="Wingdings" panose="05000000000000000000" pitchFamily="2" charset="2"/>
              <a:buChar char="Ø"/>
            </a:pPr>
            <a:r>
              <a:rPr lang="tr-TR" sz="1800" b="1" dirty="0" err="1">
                <a:solidFill>
                  <a:schemeClr val="tx2"/>
                </a:solidFill>
                <a:latin typeface="Times New Roman" panose="02020603050405020304" pitchFamily="18" charset="0"/>
                <a:cs typeface="Times New Roman" panose="02020603050405020304" pitchFamily="18" charset="0"/>
              </a:rPr>
              <a:t>We</a:t>
            </a:r>
            <a:r>
              <a:rPr lang="tr-TR" sz="1800" b="1" dirty="0">
                <a:solidFill>
                  <a:schemeClr val="tx2"/>
                </a:solidFill>
                <a:latin typeface="Times New Roman" panose="02020603050405020304" pitchFamily="18" charset="0"/>
                <a:cs typeface="Times New Roman" panose="02020603050405020304" pitchFamily="18" charset="0"/>
              </a:rPr>
              <a:t> </a:t>
            </a:r>
            <a:r>
              <a:rPr lang="tr-TR" sz="1800" b="1" dirty="0" err="1">
                <a:solidFill>
                  <a:schemeClr val="tx2"/>
                </a:solidFill>
                <a:latin typeface="Times New Roman" panose="02020603050405020304" pitchFamily="18" charset="0"/>
                <a:cs typeface="Times New Roman" panose="02020603050405020304" pitchFamily="18" charset="0"/>
              </a:rPr>
              <a:t>fune</a:t>
            </a:r>
            <a:r>
              <a:rPr lang="tr-TR" sz="1800" b="1" dirty="0">
                <a:solidFill>
                  <a:schemeClr val="tx2"/>
                </a:solidFill>
                <a:latin typeface="Times New Roman" panose="02020603050405020304" pitchFamily="18" charset="0"/>
                <a:cs typeface="Times New Roman" panose="02020603050405020304" pitchFamily="18" charset="0"/>
              </a:rPr>
              <a:t> </a:t>
            </a:r>
            <a:r>
              <a:rPr lang="tr-TR" sz="1800" b="1" dirty="0" err="1">
                <a:solidFill>
                  <a:schemeClr val="tx2"/>
                </a:solidFill>
                <a:latin typeface="Times New Roman" panose="02020603050405020304" pitchFamily="18" charset="0"/>
                <a:cs typeface="Times New Roman" panose="02020603050405020304" pitchFamily="18" charset="0"/>
              </a:rPr>
              <a:t>tuned</a:t>
            </a:r>
            <a:r>
              <a:rPr lang="tr-TR" sz="1800" b="1" dirty="0">
                <a:solidFill>
                  <a:schemeClr val="tx2"/>
                </a:solidFill>
                <a:latin typeface="Times New Roman" panose="02020603050405020304" pitchFamily="18" charset="0"/>
                <a:cs typeface="Times New Roman" panose="02020603050405020304" pitchFamily="18" charset="0"/>
              </a:rPr>
              <a:t> the </a:t>
            </a:r>
            <a:r>
              <a:rPr lang="tr-TR" sz="1800" b="1" dirty="0" err="1">
                <a:solidFill>
                  <a:schemeClr val="tx2"/>
                </a:solidFill>
                <a:latin typeface="Times New Roman" panose="02020603050405020304" pitchFamily="18" charset="0"/>
                <a:cs typeface="Times New Roman" panose="02020603050405020304" pitchFamily="18" charset="0"/>
              </a:rPr>
              <a:t>models</a:t>
            </a:r>
            <a:r>
              <a:rPr lang="tr-TR" sz="1800" b="1" dirty="0">
                <a:solidFill>
                  <a:schemeClr val="tx2"/>
                </a:solidFill>
                <a:latin typeface="Times New Roman" panose="02020603050405020304" pitchFamily="18" charset="0"/>
                <a:cs typeface="Times New Roman" panose="02020603050405020304" pitchFamily="18" charset="0"/>
              </a:rPr>
              <a:t> 4 </a:t>
            </a:r>
            <a:r>
              <a:rPr lang="tr-TR" sz="1800" b="1" dirty="0" err="1">
                <a:solidFill>
                  <a:schemeClr val="tx2"/>
                </a:solidFill>
                <a:latin typeface="Times New Roman" panose="02020603050405020304" pitchFamily="18" charset="0"/>
                <a:cs typeface="Times New Roman" panose="02020603050405020304" pitchFamily="18" charset="0"/>
              </a:rPr>
              <a:t>times</a:t>
            </a:r>
            <a:r>
              <a:rPr lang="tr-TR" sz="1800" b="1" dirty="0">
                <a:solidFill>
                  <a:schemeClr val="tx2"/>
                </a:solidFill>
                <a:latin typeface="Times New Roman" panose="02020603050405020304" pitchFamily="18" charset="0"/>
                <a:cs typeface="Times New Roman" panose="02020603050405020304" pitchFamily="18" charset="0"/>
              </a:rPr>
              <a:t>. </a:t>
            </a:r>
            <a:r>
              <a:rPr lang="tr-TR" sz="1800" b="1" dirty="0" err="1">
                <a:solidFill>
                  <a:schemeClr val="tx2"/>
                </a:solidFill>
                <a:latin typeface="Times New Roman" panose="02020603050405020304" pitchFamily="18" charset="0"/>
                <a:cs typeface="Times New Roman" panose="02020603050405020304" pitchFamily="18" charset="0"/>
              </a:rPr>
              <a:t>Both</a:t>
            </a:r>
            <a:r>
              <a:rPr lang="tr-TR" sz="1800" b="1" dirty="0">
                <a:solidFill>
                  <a:schemeClr val="tx2"/>
                </a:solidFill>
                <a:latin typeface="Times New Roman" panose="02020603050405020304" pitchFamily="18" charset="0"/>
                <a:cs typeface="Times New Roman" panose="02020603050405020304" pitchFamily="18" charset="0"/>
              </a:rPr>
              <a:t> two </a:t>
            </a:r>
            <a:r>
              <a:rPr lang="tr-TR" sz="1800" b="1" dirty="0" err="1">
                <a:solidFill>
                  <a:schemeClr val="tx2"/>
                </a:solidFill>
                <a:latin typeface="Times New Roman" panose="02020603050405020304" pitchFamily="18" charset="0"/>
                <a:cs typeface="Times New Roman" panose="02020603050405020304" pitchFamily="18" charset="0"/>
              </a:rPr>
              <a:t>times</a:t>
            </a:r>
            <a:r>
              <a:rPr lang="tr-TR" sz="1800" b="1" dirty="0">
                <a:solidFill>
                  <a:schemeClr val="tx2"/>
                </a:solidFill>
                <a:latin typeface="Times New Roman" panose="02020603050405020304" pitchFamily="18" charset="0"/>
                <a:cs typeface="Times New Roman" panose="02020603050405020304" pitchFamily="18" charset="0"/>
              </a:rPr>
              <a:t> </a:t>
            </a:r>
            <a:r>
              <a:rPr lang="tr-TR" sz="1800" b="1" dirty="0" err="1">
                <a:solidFill>
                  <a:schemeClr val="tx2"/>
                </a:solidFill>
                <a:latin typeface="Times New Roman" panose="02020603050405020304" pitchFamily="18" charset="0"/>
                <a:cs typeface="Times New Roman" panose="02020603050405020304" pitchFamily="18" charset="0"/>
              </a:rPr>
              <a:t>with</a:t>
            </a:r>
            <a:r>
              <a:rPr lang="tr-TR" sz="1800" b="1" dirty="0">
                <a:solidFill>
                  <a:schemeClr val="tx2"/>
                </a:solidFill>
                <a:latin typeface="Times New Roman" panose="02020603050405020304" pitchFamily="18" charset="0"/>
                <a:cs typeface="Times New Roman" panose="02020603050405020304" pitchFamily="18" charset="0"/>
              </a:rPr>
              <a:t> the 2 </a:t>
            </a:r>
            <a:r>
              <a:rPr lang="tr-TR" sz="1800" b="1" dirty="0" err="1">
                <a:solidFill>
                  <a:schemeClr val="tx2"/>
                </a:solidFill>
                <a:latin typeface="Times New Roman" panose="02020603050405020304" pitchFamily="18" charset="0"/>
                <a:cs typeface="Times New Roman" panose="02020603050405020304" pitchFamily="18" charset="0"/>
              </a:rPr>
              <a:t>different</a:t>
            </a:r>
            <a:r>
              <a:rPr lang="tr-TR" sz="1800" b="1" dirty="0">
                <a:solidFill>
                  <a:schemeClr val="tx2"/>
                </a:solidFill>
                <a:latin typeface="Times New Roman" panose="02020603050405020304" pitchFamily="18" charset="0"/>
                <a:cs typeface="Times New Roman" panose="02020603050405020304" pitchFamily="18" charset="0"/>
              </a:rPr>
              <a:t> </a:t>
            </a:r>
            <a:r>
              <a:rPr lang="tr-TR" sz="1800" b="1" dirty="0" err="1">
                <a:solidFill>
                  <a:schemeClr val="tx2"/>
                </a:solidFill>
                <a:latin typeface="Times New Roman" panose="02020603050405020304" pitchFamily="18" charset="0"/>
                <a:cs typeface="Times New Roman" panose="02020603050405020304" pitchFamily="18" charset="0"/>
              </a:rPr>
              <a:t>dataset</a:t>
            </a:r>
            <a:r>
              <a:rPr lang="tr-TR" sz="1800" b="1" dirty="0">
                <a:solidFill>
                  <a:schemeClr val="tx2"/>
                </a:solidFill>
                <a:latin typeface="Times New Roman" panose="02020603050405020304" pitchFamily="18" charset="0"/>
                <a:cs typeface="Times New Roman" panose="02020603050405020304" pitchFamily="18" charset="0"/>
              </a:rPr>
              <a:t>. </a:t>
            </a:r>
          </a:p>
          <a:p>
            <a:pPr>
              <a:spcAft>
                <a:spcPts val="1200"/>
              </a:spcAft>
              <a:buFont typeface="Wingdings" panose="05000000000000000000" pitchFamily="2" charset="2"/>
              <a:buChar char="Ø"/>
            </a:pPr>
            <a:r>
              <a:rPr lang="tr-TR" sz="1800" b="1" dirty="0">
                <a:solidFill>
                  <a:schemeClr val="tx2"/>
                </a:solidFill>
                <a:latin typeface="Times New Roman" panose="02020603050405020304" pitchFamily="18" charset="0"/>
                <a:cs typeface="Times New Roman" panose="02020603050405020304" pitchFamily="18" charset="0"/>
              </a:rPr>
              <a:t>Here </a:t>
            </a:r>
            <a:r>
              <a:rPr lang="tr-TR" sz="1800" b="1" dirty="0" err="1">
                <a:solidFill>
                  <a:schemeClr val="tx2"/>
                </a:solidFill>
                <a:latin typeface="Times New Roman" panose="02020603050405020304" pitchFamily="18" charset="0"/>
                <a:cs typeface="Times New Roman" panose="02020603050405020304" pitchFamily="18" charset="0"/>
              </a:rPr>
              <a:t>we</a:t>
            </a:r>
            <a:r>
              <a:rPr lang="tr-TR" sz="1800" b="1" dirty="0">
                <a:solidFill>
                  <a:schemeClr val="tx2"/>
                </a:solidFill>
                <a:latin typeface="Times New Roman" panose="02020603050405020304" pitchFamily="18" charset="0"/>
                <a:cs typeface="Times New Roman" panose="02020603050405020304" pitchFamily="18" charset="0"/>
              </a:rPr>
              <a:t> </a:t>
            </a:r>
            <a:r>
              <a:rPr lang="tr-TR" sz="1800" b="1" dirty="0" err="1">
                <a:solidFill>
                  <a:schemeClr val="tx2"/>
                </a:solidFill>
                <a:latin typeface="Times New Roman" panose="02020603050405020304" pitchFamily="18" charset="0"/>
                <a:cs typeface="Times New Roman" panose="02020603050405020304" pitchFamily="18" charset="0"/>
              </a:rPr>
              <a:t>see</a:t>
            </a:r>
            <a:r>
              <a:rPr lang="tr-TR" sz="1800" b="1" dirty="0">
                <a:solidFill>
                  <a:schemeClr val="tx2"/>
                </a:solidFill>
                <a:latin typeface="Times New Roman" panose="02020603050405020304" pitchFamily="18" charset="0"/>
                <a:cs typeface="Times New Roman" panose="02020603050405020304" pitchFamily="18" charset="0"/>
              </a:rPr>
              <a:t> the </a:t>
            </a:r>
            <a:r>
              <a:rPr lang="tr-TR" sz="1800" b="1" dirty="0" err="1">
                <a:solidFill>
                  <a:schemeClr val="tx2"/>
                </a:solidFill>
                <a:latin typeface="Times New Roman" panose="02020603050405020304" pitchFamily="18" charset="0"/>
                <a:cs typeface="Times New Roman" panose="02020603050405020304" pitchFamily="18" charset="0"/>
              </a:rPr>
              <a:t>training</a:t>
            </a:r>
            <a:r>
              <a:rPr lang="tr-TR" sz="1800" b="1" dirty="0">
                <a:solidFill>
                  <a:schemeClr val="tx2"/>
                </a:solidFill>
                <a:latin typeface="Times New Roman" panose="02020603050405020304" pitchFamily="18" charset="0"/>
                <a:cs typeface="Times New Roman" panose="02020603050405020304" pitchFamily="18" charset="0"/>
              </a:rPr>
              <a:t> </a:t>
            </a:r>
            <a:r>
              <a:rPr lang="tr-TR" sz="1800" b="1" dirty="0" err="1">
                <a:solidFill>
                  <a:schemeClr val="tx2"/>
                </a:solidFill>
                <a:latin typeface="Times New Roman" panose="02020603050405020304" pitchFamily="18" charset="0"/>
                <a:cs typeface="Times New Roman" panose="02020603050405020304" pitchFamily="18" charset="0"/>
              </a:rPr>
              <a:t>and</a:t>
            </a:r>
            <a:r>
              <a:rPr lang="tr-TR" sz="1800" b="1" dirty="0">
                <a:solidFill>
                  <a:schemeClr val="tx2"/>
                </a:solidFill>
                <a:latin typeface="Times New Roman" panose="02020603050405020304" pitchFamily="18" charset="0"/>
                <a:cs typeface="Times New Roman" panose="02020603050405020304" pitchFamily="18" charset="0"/>
              </a:rPr>
              <a:t> </a:t>
            </a:r>
            <a:r>
              <a:rPr lang="tr-TR" sz="1800" b="1" dirty="0" err="1">
                <a:solidFill>
                  <a:schemeClr val="tx2"/>
                </a:solidFill>
                <a:latin typeface="Times New Roman" panose="02020603050405020304" pitchFamily="18" charset="0"/>
                <a:cs typeface="Times New Roman" panose="02020603050405020304" pitchFamily="18" charset="0"/>
              </a:rPr>
              <a:t>validation</a:t>
            </a:r>
            <a:r>
              <a:rPr lang="tr-TR" sz="1800" b="1" dirty="0">
                <a:solidFill>
                  <a:schemeClr val="tx2"/>
                </a:solidFill>
                <a:latin typeface="Times New Roman" panose="02020603050405020304" pitchFamily="18" charset="0"/>
                <a:cs typeface="Times New Roman" panose="02020603050405020304" pitchFamily="18" charset="0"/>
              </a:rPr>
              <a:t> </a:t>
            </a:r>
            <a:r>
              <a:rPr lang="tr-TR" sz="1800" b="1" dirty="0" err="1">
                <a:solidFill>
                  <a:schemeClr val="tx2"/>
                </a:solidFill>
                <a:latin typeface="Times New Roman" panose="02020603050405020304" pitchFamily="18" charset="0"/>
                <a:cs typeface="Times New Roman" panose="02020603050405020304" pitchFamily="18" charset="0"/>
              </a:rPr>
              <a:t>loss</a:t>
            </a:r>
            <a:r>
              <a:rPr lang="tr-TR" sz="1800" b="1" dirty="0">
                <a:solidFill>
                  <a:schemeClr val="tx2"/>
                </a:solidFill>
                <a:latin typeface="Times New Roman" panose="02020603050405020304" pitchFamily="18" charset="0"/>
                <a:cs typeface="Times New Roman" panose="02020603050405020304" pitchFamily="18" charset="0"/>
              </a:rPr>
              <a:t> </a:t>
            </a:r>
            <a:r>
              <a:rPr lang="tr-TR" sz="1800" b="1" dirty="0" err="1">
                <a:solidFill>
                  <a:schemeClr val="tx2"/>
                </a:solidFill>
                <a:latin typeface="Times New Roman" panose="02020603050405020304" pitchFamily="18" charset="0"/>
                <a:cs typeface="Times New Roman" panose="02020603050405020304" pitchFamily="18" charset="0"/>
              </a:rPr>
              <a:t>for</a:t>
            </a:r>
            <a:r>
              <a:rPr lang="tr-TR" sz="1800" b="1" dirty="0">
                <a:solidFill>
                  <a:schemeClr val="tx2"/>
                </a:solidFill>
                <a:latin typeface="Times New Roman" panose="02020603050405020304" pitchFamily="18" charset="0"/>
                <a:cs typeface="Times New Roman" panose="02020603050405020304" pitchFamily="18" charset="0"/>
              </a:rPr>
              <a:t> the model </a:t>
            </a:r>
            <a:r>
              <a:rPr lang="tr-TR" sz="1800" b="1" dirty="0" err="1">
                <a:solidFill>
                  <a:schemeClr val="tx2"/>
                </a:solidFill>
                <a:latin typeface="Times New Roman" panose="02020603050405020304" pitchFamily="18" charset="0"/>
                <a:cs typeface="Times New Roman" panose="02020603050405020304" pitchFamily="18" charset="0"/>
              </a:rPr>
              <a:t>Llama</a:t>
            </a:r>
            <a:r>
              <a:rPr lang="tr-TR" sz="1800" b="1" dirty="0">
                <a:solidFill>
                  <a:schemeClr val="tx2"/>
                </a:solidFill>
                <a:latin typeface="Times New Roman" panose="02020603050405020304" pitchFamily="18" charset="0"/>
                <a:cs typeface="Times New Roman" panose="02020603050405020304" pitchFamily="18" charset="0"/>
              </a:rPr>
              <a:t> 3 </a:t>
            </a:r>
            <a:r>
              <a:rPr lang="tr-TR" sz="1800" b="1" dirty="0" err="1">
                <a:solidFill>
                  <a:schemeClr val="tx2"/>
                </a:solidFill>
                <a:latin typeface="Times New Roman" panose="02020603050405020304" pitchFamily="18" charset="0"/>
                <a:cs typeface="Times New Roman" panose="02020603050405020304" pitchFamily="18" charset="0"/>
              </a:rPr>
              <a:t>with</a:t>
            </a:r>
            <a:r>
              <a:rPr lang="tr-TR" sz="1800" b="1" dirty="0">
                <a:solidFill>
                  <a:schemeClr val="tx2"/>
                </a:solidFill>
                <a:latin typeface="Times New Roman" panose="02020603050405020304" pitchFamily="18" charset="0"/>
                <a:cs typeface="Times New Roman" panose="02020603050405020304" pitchFamily="18" charset="0"/>
              </a:rPr>
              <a:t> the Mentalchat16k as a </a:t>
            </a:r>
            <a:r>
              <a:rPr lang="tr-TR" sz="1800" b="1" dirty="0" err="1">
                <a:solidFill>
                  <a:schemeClr val="tx2"/>
                </a:solidFill>
                <a:latin typeface="Times New Roman" panose="02020603050405020304" pitchFamily="18" charset="0"/>
                <a:cs typeface="Times New Roman" panose="02020603050405020304" pitchFamily="18" charset="0"/>
              </a:rPr>
              <a:t>representation</a:t>
            </a:r>
            <a:r>
              <a:rPr lang="tr-TR" sz="1800" b="1" dirty="0">
                <a:solidFill>
                  <a:schemeClr val="tx2"/>
                </a:solidFill>
                <a:latin typeface="Times New Roman" panose="02020603050405020304" pitchFamily="18" charset="0"/>
                <a:cs typeface="Times New Roman" panose="02020603050405020304" pitchFamily="18" charset="0"/>
              </a:rPr>
              <a:t>.</a:t>
            </a:r>
          </a:p>
          <a:p>
            <a:pPr marL="0" indent="0">
              <a:spcAft>
                <a:spcPts val="1200"/>
              </a:spcAft>
              <a:buNone/>
            </a:pPr>
            <a:endParaRPr lang="en-US" sz="1800" b="1" dirty="0">
              <a:solidFill>
                <a:schemeClr val="tx2"/>
              </a:solidFill>
              <a:latin typeface="Times New Roman" panose="02020603050405020304" pitchFamily="18" charset="0"/>
              <a:cs typeface="Times New Roman" panose="02020603050405020304" pitchFamily="18" charset="0"/>
            </a:endParaRPr>
          </a:p>
        </p:txBody>
      </p:sp>
      <p:pic>
        <p:nvPicPr>
          <p:cNvPr id="4" name="Resim 3" descr="çizgi, öykü gelişim çizgisi; kumpas; grafiğini çıkarma, diyagram, metin içeren bir resim&#10;&#10;Yapay zeka tarafından oluşturulan içerik yanlış olabilir.">
            <a:extLst>
              <a:ext uri="{FF2B5EF4-FFF2-40B4-BE49-F238E27FC236}">
                <a16:creationId xmlns:a16="http://schemas.microsoft.com/office/drawing/2014/main" id="{B40FF2B6-2BFC-0D61-D848-4E9D4B0B42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1144" y="2233457"/>
            <a:ext cx="6754168" cy="4134427"/>
          </a:xfrm>
          <a:prstGeom prst="rect">
            <a:avLst/>
          </a:prstGeom>
        </p:spPr>
      </p:pic>
    </p:spTree>
    <p:extLst>
      <p:ext uri="{BB962C8B-B14F-4D97-AF65-F5344CB8AC3E}">
        <p14:creationId xmlns:p14="http://schemas.microsoft.com/office/powerpoint/2010/main" val="78160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E6CED3-D8EA-4663-BF55-BAD1FAAC65F9}"/>
              </a:ext>
            </a:extLst>
          </p:cNvPr>
          <p:cNvSpPr>
            <a:spLocks noGrp="1"/>
          </p:cNvSpPr>
          <p:nvPr>
            <p:ph idx="1"/>
          </p:nvPr>
        </p:nvSpPr>
        <p:spPr>
          <a:xfrm>
            <a:off x="119812" y="2028567"/>
            <a:ext cx="2905400" cy="2651110"/>
          </a:xfrm>
        </p:spPr>
        <p:txBody>
          <a:bodyPr anchor="ctr">
            <a:normAutofit/>
          </a:bodyPr>
          <a:lstStyle/>
          <a:p>
            <a:pPr marL="0" indent="0">
              <a:spcAft>
                <a:spcPts val="1200"/>
              </a:spcAft>
              <a:buNone/>
            </a:pPr>
            <a:r>
              <a:rPr lang="tr-TR" sz="3300" b="1" dirty="0">
                <a:solidFill>
                  <a:schemeClr val="tx2"/>
                </a:solidFill>
                <a:latin typeface="Times New Roman" panose="02020603050405020304" pitchFamily="18" charset="0"/>
                <a:cs typeface="Times New Roman" panose="02020603050405020304" pitchFamily="18" charset="0"/>
              </a:rPr>
              <a:t>4</a:t>
            </a:r>
            <a:r>
              <a:rPr lang="en-US" sz="3300" b="1" dirty="0">
                <a:solidFill>
                  <a:schemeClr val="tx2"/>
                </a:solidFill>
                <a:latin typeface="Times New Roman" panose="02020603050405020304" pitchFamily="18" charset="0"/>
                <a:cs typeface="Times New Roman" panose="02020603050405020304" pitchFamily="18" charset="0"/>
              </a:rPr>
              <a:t>.</a:t>
            </a:r>
            <a:r>
              <a:rPr lang="tr-TR" sz="3300" b="1" dirty="0">
                <a:solidFill>
                  <a:schemeClr val="tx2"/>
                </a:solidFill>
                <a:latin typeface="Times New Roman" panose="02020603050405020304" pitchFamily="18" charset="0"/>
                <a:cs typeface="Times New Roman" panose="02020603050405020304" pitchFamily="18" charset="0"/>
              </a:rPr>
              <a:t>3</a:t>
            </a:r>
            <a:r>
              <a:rPr lang="en-US" sz="3300" b="1" dirty="0">
                <a:solidFill>
                  <a:schemeClr val="tx2"/>
                </a:solidFill>
                <a:latin typeface="Times New Roman" panose="02020603050405020304" pitchFamily="18" charset="0"/>
                <a:cs typeface="Times New Roman" panose="02020603050405020304" pitchFamily="18" charset="0"/>
              </a:rPr>
              <a:t>. </a:t>
            </a:r>
            <a:r>
              <a:rPr lang="tr-TR" sz="3300" b="1" dirty="0" err="1">
                <a:solidFill>
                  <a:schemeClr val="tx2"/>
                </a:solidFill>
                <a:latin typeface="Times New Roman" panose="02020603050405020304" pitchFamily="18" charset="0"/>
                <a:cs typeface="Times New Roman" panose="02020603050405020304" pitchFamily="18" charset="0"/>
              </a:rPr>
              <a:t>Response</a:t>
            </a:r>
            <a:r>
              <a:rPr lang="tr-TR" sz="3300" b="1" dirty="0">
                <a:solidFill>
                  <a:schemeClr val="tx2"/>
                </a:solidFill>
                <a:latin typeface="Times New Roman" panose="02020603050405020304" pitchFamily="18" charset="0"/>
                <a:cs typeface="Times New Roman" panose="02020603050405020304" pitchFamily="18" charset="0"/>
              </a:rPr>
              <a:t> </a:t>
            </a:r>
            <a:r>
              <a:rPr lang="tr-TR" sz="3300" b="1" dirty="0" err="1">
                <a:solidFill>
                  <a:schemeClr val="tx2"/>
                </a:solidFill>
                <a:latin typeface="Times New Roman" panose="02020603050405020304" pitchFamily="18" charset="0"/>
                <a:cs typeface="Times New Roman" panose="02020603050405020304" pitchFamily="18" charset="0"/>
              </a:rPr>
              <a:t>Generation</a:t>
            </a:r>
            <a:r>
              <a:rPr lang="tr-TR" sz="3300" b="1" dirty="0">
                <a:solidFill>
                  <a:schemeClr val="tx2"/>
                </a:solidFill>
                <a:latin typeface="Times New Roman" panose="02020603050405020304" pitchFamily="18" charset="0"/>
                <a:cs typeface="Times New Roman" panose="02020603050405020304" pitchFamily="18" charset="0"/>
              </a:rPr>
              <a:t>:</a:t>
            </a:r>
          </a:p>
          <a:p>
            <a:pPr marL="0" indent="0">
              <a:spcAft>
                <a:spcPts val="1200"/>
              </a:spcAft>
              <a:buNone/>
            </a:pPr>
            <a:endParaRPr lang="en-US" sz="1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 name="Tablo 1">
            <a:extLst>
              <a:ext uri="{FF2B5EF4-FFF2-40B4-BE49-F238E27FC236}">
                <a16:creationId xmlns:a16="http://schemas.microsoft.com/office/drawing/2014/main" id="{FC74B183-AC4B-71E3-AEDB-B15A2ADF127A}"/>
              </a:ext>
            </a:extLst>
          </p:cNvPr>
          <p:cNvGraphicFramePr>
            <a:graphicFrameLocks noGrp="1"/>
          </p:cNvGraphicFramePr>
          <p:nvPr>
            <p:extLst>
              <p:ext uri="{D42A27DB-BD31-4B8C-83A1-F6EECF244321}">
                <p14:modId xmlns:p14="http://schemas.microsoft.com/office/powerpoint/2010/main" val="1656696272"/>
              </p:ext>
            </p:extLst>
          </p:nvPr>
        </p:nvGraphicFramePr>
        <p:xfrm>
          <a:off x="3025212" y="1837346"/>
          <a:ext cx="8024499" cy="4683096"/>
        </p:xfrm>
        <a:graphic>
          <a:graphicData uri="http://schemas.openxmlformats.org/drawingml/2006/table">
            <a:tbl>
              <a:tblPr/>
              <a:tblGrid>
                <a:gridCol w="2674833">
                  <a:extLst>
                    <a:ext uri="{9D8B030D-6E8A-4147-A177-3AD203B41FA5}">
                      <a16:colId xmlns:a16="http://schemas.microsoft.com/office/drawing/2014/main" val="3914977963"/>
                    </a:ext>
                  </a:extLst>
                </a:gridCol>
                <a:gridCol w="2674833">
                  <a:extLst>
                    <a:ext uri="{9D8B030D-6E8A-4147-A177-3AD203B41FA5}">
                      <a16:colId xmlns:a16="http://schemas.microsoft.com/office/drawing/2014/main" val="1074546876"/>
                    </a:ext>
                  </a:extLst>
                </a:gridCol>
                <a:gridCol w="2674833">
                  <a:extLst>
                    <a:ext uri="{9D8B030D-6E8A-4147-A177-3AD203B41FA5}">
                      <a16:colId xmlns:a16="http://schemas.microsoft.com/office/drawing/2014/main" val="1098836505"/>
                    </a:ext>
                  </a:extLst>
                </a:gridCol>
              </a:tblGrid>
              <a:tr h="289253">
                <a:tc>
                  <a:txBody>
                    <a:bodyPr/>
                    <a:lstStyle/>
                    <a:p>
                      <a:r>
                        <a:rPr lang="en-GB" sz="1500" b="1" dirty="0"/>
                        <a:t>Category</a:t>
                      </a:r>
                      <a:endParaRPr lang="en-GB" sz="1500" dirty="0"/>
                    </a:p>
                  </a:txBody>
                  <a:tcPr marL="58018" marR="58018" marT="29009" marB="29009" anchor="ctr">
                    <a:lnL>
                      <a:noFill/>
                    </a:lnL>
                    <a:lnR>
                      <a:noFill/>
                    </a:lnR>
                    <a:lnT>
                      <a:noFill/>
                    </a:lnT>
                    <a:lnB>
                      <a:noFill/>
                    </a:lnB>
                    <a:noFill/>
                  </a:tcPr>
                </a:tc>
                <a:tc>
                  <a:txBody>
                    <a:bodyPr/>
                    <a:lstStyle/>
                    <a:p>
                      <a:r>
                        <a:rPr lang="en-GB" sz="1500" b="1"/>
                        <a:t>Parameter</a:t>
                      </a:r>
                      <a:endParaRPr lang="en-GB" sz="1500"/>
                    </a:p>
                  </a:txBody>
                  <a:tcPr marL="58018" marR="58018" marT="29009" marB="29009" anchor="ctr">
                    <a:lnL>
                      <a:noFill/>
                    </a:lnL>
                    <a:lnR>
                      <a:noFill/>
                    </a:lnR>
                    <a:lnT>
                      <a:noFill/>
                    </a:lnT>
                    <a:lnB>
                      <a:noFill/>
                    </a:lnB>
                    <a:noFill/>
                  </a:tcPr>
                </a:tc>
                <a:tc>
                  <a:txBody>
                    <a:bodyPr/>
                    <a:lstStyle/>
                    <a:p>
                      <a:r>
                        <a:rPr lang="en-GB" sz="1500" b="1"/>
                        <a:t>Value</a:t>
                      </a:r>
                      <a:endParaRPr lang="en-GB" sz="1500"/>
                    </a:p>
                  </a:txBody>
                  <a:tcPr marL="58018" marR="58018" marT="29009" marB="29009" anchor="ctr">
                    <a:lnL>
                      <a:noFill/>
                    </a:lnL>
                    <a:lnR>
                      <a:noFill/>
                    </a:lnR>
                    <a:lnT>
                      <a:noFill/>
                    </a:lnT>
                    <a:lnB>
                      <a:noFill/>
                    </a:lnB>
                    <a:noFill/>
                  </a:tcPr>
                </a:tc>
                <a:extLst>
                  <a:ext uri="{0D108BD9-81ED-4DB2-BD59-A6C34878D82A}">
                    <a16:rowId xmlns:a16="http://schemas.microsoft.com/office/drawing/2014/main" val="1979974526"/>
                  </a:ext>
                </a:extLst>
              </a:tr>
              <a:tr h="519955">
                <a:tc>
                  <a:txBody>
                    <a:bodyPr/>
                    <a:lstStyle/>
                    <a:p>
                      <a:r>
                        <a:rPr lang="en-GB" sz="1500" b="1"/>
                        <a:t>Model</a:t>
                      </a:r>
                      <a:endParaRPr lang="en-GB" sz="1500"/>
                    </a:p>
                  </a:txBody>
                  <a:tcPr marL="58018" marR="58018" marT="29009" marB="29009" anchor="ctr">
                    <a:lnL>
                      <a:noFill/>
                    </a:lnL>
                    <a:lnR>
                      <a:noFill/>
                    </a:lnR>
                    <a:lnT>
                      <a:noFill/>
                    </a:lnT>
                    <a:lnB>
                      <a:noFill/>
                    </a:lnB>
                    <a:noFill/>
                  </a:tcPr>
                </a:tc>
                <a:tc>
                  <a:txBody>
                    <a:bodyPr/>
                    <a:lstStyle/>
                    <a:p>
                      <a:r>
                        <a:rPr lang="en-GB" sz="1500"/>
                        <a:t>Fine-tuned Model Path</a:t>
                      </a:r>
                    </a:p>
                  </a:txBody>
                  <a:tcPr marL="58018" marR="58018" marT="29009" marB="29009" anchor="ctr">
                    <a:lnL>
                      <a:noFill/>
                    </a:lnL>
                    <a:lnR>
                      <a:noFill/>
                    </a:lnR>
                    <a:lnT>
                      <a:noFill/>
                    </a:lnT>
                    <a:lnB>
                      <a:noFill/>
                    </a:lnB>
                    <a:noFill/>
                  </a:tcPr>
                </a:tc>
                <a:tc>
                  <a:txBody>
                    <a:bodyPr/>
                    <a:lstStyle/>
                    <a:p>
                      <a:r>
                        <a:rPr lang="en-GB" sz="1500" dirty="0"/>
                        <a:t>Custom: </a:t>
                      </a:r>
                      <a:r>
                        <a:rPr lang="en-GB" sz="1500" dirty="0" err="1"/>
                        <a:t>LLaMA</a:t>
                      </a:r>
                      <a:r>
                        <a:rPr lang="en-GB" sz="1500" dirty="0"/>
                        <a:t> 3 – 8B Instruct (loaded from local drive)</a:t>
                      </a:r>
                    </a:p>
                  </a:txBody>
                  <a:tcPr marL="58018" marR="58018" marT="29009" marB="29009" anchor="ctr">
                    <a:lnL>
                      <a:noFill/>
                    </a:lnL>
                    <a:lnR>
                      <a:noFill/>
                    </a:lnR>
                    <a:lnT>
                      <a:noFill/>
                    </a:lnT>
                    <a:lnB>
                      <a:noFill/>
                    </a:lnB>
                    <a:noFill/>
                  </a:tcPr>
                </a:tc>
                <a:extLst>
                  <a:ext uri="{0D108BD9-81ED-4DB2-BD59-A6C34878D82A}">
                    <a16:rowId xmlns:a16="http://schemas.microsoft.com/office/drawing/2014/main" val="2531334572"/>
                  </a:ext>
                </a:extLst>
              </a:tr>
              <a:tr h="519955">
                <a:tc>
                  <a:txBody>
                    <a:bodyPr/>
                    <a:lstStyle/>
                    <a:p>
                      <a:endParaRPr lang="en-GB" sz="1500"/>
                    </a:p>
                  </a:txBody>
                  <a:tcPr marL="58018" marR="58018" marT="29009" marB="29009" anchor="ctr">
                    <a:lnL>
                      <a:noFill/>
                    </a:lnL>
                    <a:lnR>
                      <a:noFill/>
                    </a:lnR>
                    <a:lnT>
                      <a:noFill/>
                    </a:lnT>
                    <a:lnB>
                      <a:noFill/>
                    </a:lnB>
                    <a:noFill/>
                  </a:tcPr>
                </a:tc>
                <a:tc>
                  <a:txBody>
                    <a:bodyPr/>
                    <a:lstStyle/>
                    <a:p>
                      <a:r>
                        <a:rPr lang="en-GB" sz="1500"/>
                        <a:t>Tokenizer</a:t>
                      </a:r>
                    </a:p>
                  </a:txBody>
                  <a:tcPr marL="58018" marR="58018" marT="29009" marB="29009" anchor="ctr">
                    <a:lnL>
                      <a:noFill/>
                    </a:lnL>
                    <a:lnR>
                      <a:noFill/>
                    </a:lnR>
                    <a:lnT>
                      <a:noFill/>
                    </a:lnT>
                    <a:lnB>
                      <a:noFill/>
                    </a:lnB>
                    <a:noFill/>
                  </a:tcPr>
                </a:tc>
                <a:tc>
                  <a:txBody>
                    <a:bodyPr/>
                    <a:lstStyle/>
                    <a:p>
                      <a:r>
                        <a:rPr lang="en-GB" sz="1500" dirty="0" err="1"/>
                        <a:t>AutoTokenizer</a:t>
                      </a:r>
                      <a:r>
                        <a:rPr lang="en-GB" sz="1500" dirty="0"/>
                        <a:t> from the same model path</a:t>
                      </a:r>
                    </a:p>
                  </a:txBody>
                  <a:tcPr marL="58018" marR="58018" marT="29009" marB="29009" anchor="ctr">
                    <a:lnL>
                      <a:noFill/>
                    </a:lnL>
                    <a:lnR>
                      <a:noFill/>
                    </a:lnR>
                    <a:lnT>
                      <a:noFill/>
                    </a:lnT>
                    <a:lnB>
                      <a:noFill/>
                    </a:lnB>
                    <a:noFill/>
                  </a:tcPr>
                </a:tc>
                <a:extLst>
                  <a:ext uri="{0D108BD9-81ED-4DB2-BD59-A6C34878D82A}">
                    <a16:rowId xmlns:a16="http://schemas.microsoft.com/office/drawing/2014/main" val="2433987912"/>
                  </a:ext>
                </a:extLst>
              </a:tr>
              <a:tr h="289253">
                <a:tc>
                  <a:txBody>
                    <a:bodyPr/>
                    <a:lstStyle/>
                    <a:p>
                      <a:endParaRPr lang="en-GB" sz="1500"/>
                    </a:p>
                  </a:txBody>
                  <a:tcPr marL="58018" marR="58018" marT="29009" marB="29009" anchor="ctr">
                    <a:lnL>
                      <a:noFill/>
                    </a:lnL>
                    <a:lnR>
                      <a:noFill/>
                    </a:lnR>
                    <a:lnT>
                      <a:noFill/>
                    </a:lnT>
                    <a:lnB>
                      <a:noFill/>
                    </a:lnB>
                    <a:noFill/>
                  </a:tcPr>
                </a:tc>
                <a:tc>
                  <a:txBody>
                    <a:bodyPr/>
                    <a:lstStyle/>
                    <a:p>
                      <a:r>
                        <a:rPr lang="en-GB" sz="1500"/>
                        <a:t>Inference Device</a:t>
                      </a:r>
                    </a:p>
                  </a:txBody>
                  <a:tcPr marL="58018" marR="58018" marT="29009" marB="29009" anchor="ctr">
                    <a:lnL>
                      <a:noFill/>
                    </a:lnL>
                    <a:lnR>
                      <a:noFill/>
                    </a:lnR>
                    <a:lnT>
                      <a:noFill/>
                    </a:lnT>
                    <a:lnB>
                      <a:noFill/>
                    </a:lnB>
                    <a:noFill/>
                  </a:tcPr>
                </a:tc>
                <a:tc>
                  <a:txBody>
                    <a:bodyPr/>
                    <a:lstStyle/>
                    <a:p>
                      <a:r>
                        <a:rPr lang="en-GB" sz="1500" dirty="0"/>
                        <a:t>CUDA (GPU)</a:t>
                      </a:r>
                    </a:p>
                  </a:txBody>
                  <a:tcPr marL="58018" marR="58018" marT="29009" marB="29009" anchor="ctr">
                    <a:lnL>
                      <a:noFill/>
                    </a:lnL>
                    <a:lnR>
                      <a:noFill/>
                    </a:lnR>
                    <a:lnT>
                      <a:noFill/>
                    </a:lnT>
                    <a:lnB>
                      <a:noFill/>
                    </a:lnB>
                    <a:noFill/>
                  </a:tcPr>
                </a:tc>
                <a:extLst>
                  <a:ext uri="{0D108BD9-81ED-4DB2-BD59-A6C34878D82A}">
                    <a16:rowId xmlns:a16="http://schemas.microsoft.com/office/drawing/2014/main" val="2256575416"/>
                  </a:ext>
                </a:extLst>
              </a:tr>
              <a:tr h="750656">
                <a:tc>
                  <a:txBody>
                    <a:bodyPr/>
                    <a:lstStyle/>
                    <a:p>
                      <a:r>
                        <a:rPr lang="en-GB" sz="1500" b="1"/>
                        <a:t>Prompt Format</a:t>
                      </a:r>
                      <a:endParaRPr lang="en-GB" sz="1500"/>
                    </a:p>
                  </a:txBody>
                  <a:tcPr marL="58018" marR="58018" marT="29009" marB="29009" anchor="ctr">
                    <a:lnL>
                      <a:noFill/>
                    </a:lnL>
                    <a:lnR>
                      <a:noFill/>
                    </a:lnR>
                    <a:lnT>
                      <a:noFill/>
                    </a:lnT>
                    <a:lnB>
                      <a:noFill/>
                    </a:lnB>
                    <a:noFill/>
                  </a:tcPr>
                </a:tc>
                <a:tc>
                  <a:txBody>
                    <a:bodyPr/>
                    <a:lstStyle/>
                    <a:p>
                      <a:r>
                        <a:rPr lang="en-GB" sz="1500" dirty="0"/>
                        <a:t>System Prompt Template</a:t>
                      </a:r>
                    </a:p>
                  </a:txBody>
                  <a:tcPr marL="58018" marR="58018" marT="29009" marB="29009" anchor="ctr">
                    <a:lnL>
                      <a:noFill/>
                    </a:lnL>
                    <a:lnR>
                      <a:noFill/>
                    </a:lnR>
                    <a:lnT>
                      <a:noFill/>
                    </a:lnT>
                    <a:lnB>
                      <a:noFill/>
                    </a:lnB>
                    <a:noFill/>
                  </a:tcPr>
                </a:tc>
                <a:tc>
                  <a:txBody>
                    <a:bodyPr/>
                    <a:lstStyle/>
                    <a:p>
                      <a:r>
                        <a:rPr lang="en-GB" sz="1500" dirty="0"/>
                        <a:t>Therapist persona with emotional tone, token limit: ~95</a:t>
                      </a:r>
                    </a:p>
                  </a:txBody>
                  <a:tcPr marL="58018" marR="58018" marT="29009" marB="29009" anchor="ctr">
                    <a:lnL>
                      <a:noFill/>
                    </a:lnL>
                    <a:lnR>
                      <a:noFill/>
                    </a:lnR>
                    <a:lnT>
                      <a:noFill/>
                    </a:lnT>
                    <a:lnB>
                      <a:noFill/>
                    </a:lnB>
                    <a:noFill/>
                  </a:tcPr>
                </a:tc>
                <a:extLst>
                  <a:ext uri="{0D108BD9-81ED-4DB2-BD59-A6C34878D82A}">
                    <a16:rowId xmlns:a16="http://schemas.microsoft.com/office/drawing/2014/main" val="1887520886"/>
                  </a:ext>
                </a:extLst>
              </a:tr>
              <a:tr h="289253">
                <a:tc>
                  <a:txBody>
                    <a:bodyPr/>
                    <a:lstStyle/>
                    <a:p>
                      <a:endParaRPr lang="en-GB" sz="1500"/>
                    </a:p>
                  </a:txBody>
                  <a:tcPr marL="58018" marR="58018" marT="29009" marB="29009" anchor="ctr">
                    <a:lnL>
                      <a:noFill/>
                    </a:lnL>
                    <a:lnR>
                      <a:noFill/>
                    </a:lnR>
                    <a:lnT>
                      <a:noFill/>
                    </a:lnT>
                    <a:lnB>
                      <a:noFill/>
                    </a:lnB>
                    <a:noFill/>
                  </a:tcPr>
                </a:tc>
                <a:tc>
                  <a:txBody>
                    <a:bodyPr/>
                    <a:lstStyle/>
                    <a:p>
                      <a:r>
                        <a:rPr lang="en-GB" sz="1500"/>
                        <a:t>Example Format</a:t>
                      </a:r>
                    </a:p>
                  </a:txBody>
                  <a:tcPr marL="58018" marR="58018" marT="29009" marB="29009" anchor="ctr">
                    <a:lnL>
                      <a:noFill/>
                    </a:lnL>
                    <a:lnR>
                      <a:noFill/>
                    </a:lnR>
                    <a:lnT>
                      <a:noFill/>
                    </a:lnT>
                    <a:lnB>
                      <a:noFill/>
                    </a:lnB>
                    <a:noFill/>
                  </a:tcPr>
                </a:tc>
                <a:tc>
                  <a:txBody>
                    <a:bodyPr/>
                    <a:lstStyle/>
                    <a:p>
                      <a:r>
                        <a:rPr lang="en-GB" sz="1500"/>
                        <a:t>"Patient: ... \nAdvisor:"</a:t>
                      </a:r>
                    </a:p>
                  </a:txBody>
                  <a:tcPr marL="58018" marR="58018" marT="29009" marB="29009" anchor="ctr">
                    <a:lnL>
                      <a:noFill/>
                    </a:lnL>
                    <a:lnR>
                      <a:noFill/>
                    </a:lnR>
                    <a:lnT>
                      <a:noFill/>
                    </a:lnT>
                    <a:lnB>
                      <a:noFill/>
                    </a:lnB>
                    <a:noFill/>
                  </a:tcPr>
                </a:tc>
                <a:extLst>
                  <a:ext uri="{0D108BD9-81ED-4DB2-BD59-A6C34878D82A}">
                    <a16:rowId xmlns:a16="http://schemas.microsoft.com/office/drawing/2014/main" val="971774429"/>
                  </a:ext>
                </a:extLst>
              </a:tr>
              <a:tr h="289253">
                <a:tc>
                  <a:txBody>
                    <a:bodyPr/>
                    <a:lstStyle/>
                    <a:p>
                      <a:r>
                        <a:rPr lang="en-GB" sz="1500" b="1"/>
                        <a:t>Tokenization</a:t>
                      </a:r>
                      <a:endParaRPr lang="en-GB" sz="1500"/>
                    </a:p>
                  </a:txBody>
                  <a:tcPr marL="58018" marR="58018" marT="29009" marB="29009" anchor="ctr">
                    <a:lnL>
                      <a:noFill/>
                    </a:lnL>
                    <a:lnR>
                      <a:noFill/>
                    </a:lnR>
                    <a:lnT>
                      <a:noFill/>
                    </a:lnT>
                    <a:lnB>
                      <a:noFill/>
                    </a:lnB>
                    <a:noFill/>
                  </a:tcPr>
                </a:tc>
                <a:tc>
                  <a:txBody>
                    <a:bodyPr/>
                    <a:lstStyle/>
                    <a:p>
                      <a:r>
                        <a:rPr lang="en-GB" sz="1500"/>
                        <a:t>Max Input Length</a:t>
                      </a:r>
                    </a:p>
                  </a:txBody>
                  <a:tcPr marL="58018" marR="58018" marT="29009" marB="29009" anchor="ctr">
                    <a:lnL>
                      <a:noFill/>
                    </a:lnL>
                    <a:lnR>
                      <a:noFill/>
                    </a:lnR>
                    <a:lnT>
                      <a:noFill/>
                    </a:lnT>
                    <a:lnB>
                      <a:noFill/>
                    </a:lnB>
                    <a:noFill/>
                  </a:tcPr>
                </a:tc>
                <a:tc>
                  <a:txBody>
                    <a:bodyPr/>
                    <a:lstStyle/>
                    <a:p>
                      <a:r>
                        <a:rPr lang="en-GB" sz="1500" dirty="0"/>
                        <a:t>512 tokens (truncation applied)</a:t>
                      </a:r>
                    </a:p>
                  </a:txBody>
                  <a:tcPr marL="58018" marR="58018" marT="29009" marB="29009" anchor="ctr">
                    <a:lnL>
                      <a:noFill/>
                    </a:lnL>
                    <a:lnR>
                      <a:noFill/>
                    </a:lnR>
                    <a:lnT>
                      <a:noFill/>
                    </a:lnT>
                    <a:lnB>
                      <a:noFill/>
                    </a:lnB>
                    <a:noFill/>
                  </a:tcPr>
                </a:tc>
                <a:extLst>
                  <a:ext uri="{0D108BD9-81ED-4DB2-BD59-A6C34878D82A}">
                    <a16:rowId xmlns:a16="http://schemas.microsoft.com/office/drawing/2014/main" val="3299417575"/>
                  </a:ext>
                </a:extLst>
              </a:tr>
              <a:tr h="289253">
                <a:tc>
                  <a:txBody>
                    <a:bodyPr/>
                    <a:lstStyle/>
                    <a:p>
                      <a:r>
                        <a:rPr lang="en-GB" sz="1500" b="1"/>
                        <a:t>Generation</a:t>
                      </a:r>
                      <a:endParaRPr lang="en-GB" sz="1500"/>
                    </a:p>
                  </a:txBody>
                  <a:tcPr marL="58018" marR="58018" marT="29009" marB="29009" anchor="ctr">
                    <a:lnL>
                      <a:noFill/>
                    </a:lnL>
                    <a:lnR>
                      <a:noFill/>
                    </a:lnR>
                    <a:lnT>
                      <a:noFill/>
                    </a:lnT>
                    <a:lnB>
                      <a:noFill/>
                    </a:lnB>
                    <a:noFill/>
                  </a:tcPr>
                </a:tc>
                <a:tc>
                  <a:txBody>
                    <a:bodyPr/>
                    <a:lstStyle/>
                    <a:p>
                      <a:r>
                        <a:rPr lang="en-GB" sz="1500" dirty="0" err="1"/>
                        <a:t>max_new_tokens</a:t>
                      </a:r>
                      <a:endParaRPr lang="en-GB" sz="1500" dirty="0"/>
                    </a:p>
                  </a:txBody>
                  <a:tcPr marL="58018" marR="58018" marT="29009" marB="29009" anchor="ctr">
                    <a:lnL>
                      <a:noFill/>
                    </a:lnL>
                    <a:lnR>
                      <a:noFill/>
                    </a:lnR>
                    <a:lnT>
                      <a:noFill/>
                    </a:lnT>
                    <a:lnB>
                      <a:noFill/>
                    </a:lnB>
                    <a:noFill/>
                  </a:tcPr>
                </a:tc>
                <a:tc>
                  <a:txBody>
                    <a:bodyPr/>
                    <a:lstStyle/>
                    <a:p>
                      <a:r>
                        <a:rPr lang="en-GB" sz="1500" dirty="0"/>
                        <a:t>300</a:t>
                      </a:r>
                    </a:p>
                  </a:txBody>
                  <a:tcPr marL="58018" marR="58018" marT="29009" marB="29009" anchor="ctr">
                    <a:lnL>
                      <a:noFill/>
                    </a:lnL>
                    <a:lnR>
                      <a:noFill/>
                    </a:lnR>
                    <a:lnT>
                      <a:noFill/>
                    </a:lnT>
                    <a:lnB>
                      <a:noFill/>
                    </a:lnB>
                    <a:noFill/>
                  </a:tcPr>
                </a:tc>
                <a:extLst>
                  <a:ext uri="{0D108BD9-81ED-4DB2-BD59-A6C34878D82A}">
                    <a16:rowId xmlns:a16="http://schemas.microsoft.com/office/drawing/2014/main" val="1782339499"/>
                  </a:ext>
                </a:extLst>
              </a:tr>
              <a:tr h="289253">
                <a:tc>
                  <a:txBody>
                    <a:bodyPr/>
                    <a:lstStyle/>
                    <a:p>
                      <a:endParaRPr lang="en-GB" sz="1500" dirty="0"/>
                    </a:p>
                  </a:txBody>
                  <a:tcPr marL="58018" marR="58018" marT="29009" marB="29009" anchor="ctr">
                    <a:lnL>
                      <a:noFill/>
                    </a:lnL>
                    <a:lnR>
                      <a:noFill/>
                    </a:lnR>
                    <a:lnT>
                      <a:noFill/>
                    </a:lnT>
                    <a:lnB>
                      <a:noFill/>
                    </a:lnB>
                    <a:noFill/>
                  </a:tcPr>
                </a:tc>
                <a:tc>
                  <a:txBody>
                    <a:bodyPr/>
                    <a:lstStyle/>
                    <a:p>
                      <a:r>
                        <a:rPr lang="en-GB" sz="1500"/>
                        <a:t>temperature</a:t>
                      </a:r>
                    </a:p>
                  </a:txBody>
                  <a:tcPr marL="58018" marR="58018" marT="29009" marB="29009" anchor="ctr">
                    <a:lnL>
                      <a:noFill/>
                    </a:lnL>
                    <a:lnR>
                      <a:noFill/>
                    </a:lnR>
                    <a:lnT>
                      <a:noFill/>
                    </a:lnT>
                    <a:lnB>
                      <a:noFill/>
                    </a:lnB>
                    <a:noFill/>
                  </a:tcPr>
                </a:tc>
                <a:tc>
                  <a:txBody>
                    <a:bodyPr/>
                    <a:lstStyle/>
                    <a:p>
                      <a:r>
                        <a:rPr lang="en-GB" sz="1500"/>
                        <a:t>0.7</a:t>
                      </a:r>
                    </a:p>
                  </a:txBody>
                  <a:tcPr marL="58018" marR="58018" marT="29009" marB="29009" anchor="ctr">
                    <a:lnL>
                      <a:noFill/>
                    </a:lnL>
                    <a:lnR>
                      <a:noFill/>
                    </a:lnR>
                    <a:lnT>
                      <a:noFill/>
                    </a:lnT>
                    <a:lnB>
                      <a:noFill/>
                    </a:lnB>
                    <a:noFill/>
                  </a:tcPr>
                </a:tc>
                <a:extLst>
                  <a:ext uri="{0D108BD9-81ED-4DB2-BD59-A6C34878D82A}">
                    <a16:rowId xmlns:a16="http://schemas.microsoft.com/office/drawing/2014/main" val="1037267596"/>
                  </a:ext>
                </a:extLst>
              </a:tr>
              <a:tr h="289253">
                <a:tc>
                  <a:txBody>
                    <a:bodyPr/>
                    <a:lstStyle/>
                    <a:p>
                      <a:endParaRPr lang="en-GB" sz="1500"/>
                    </a:p>
                  </a:txBody>
                  <a:tcPr marL="58018" marR="58018" marT="29009" marB="29009" anchor="ctr">
                    <a:lnL>
                      <a:noFill/>
                    </a:lnL>
                    <a:lnR>
                      <a:noFill/>
                    </a:lnR>
                    <a:lnT>
                      <a:noFill/>
                    </a:lnT>
                    <a:lnB>
                      <a:noFill/>
                    </a:lnB>
                    <a:noFill/>
                  </a:tcPr>
                </a:tc>
                <a:tc>
                  <a:txBody>
                    <a:bodyPr/>
                    <a:lstStyle/>
                    <a:p>
                      <a:r>
                        <a:rPr lang="en-GB" sz="1500"/>
                        <a:t>top_p</a:t>
                      </a:r>
                    </a:p>
                  </a:txBody>
                  <a:tcPr marL="58018" marR="58018" marT="29009" marB="29009" anchor="ctr">
                    <a:lnL>
                      <a:noFill/>
                    </a:lnL>
                    <a:lnR>
                      <a:noFill/>
                    </a:lnR>
                    <a:lnT>
                      <a:noFill/>
                    </a:lnT>
                    <a:lnB>
                      <a:noFill/>
                    </a:lnB>
                    <a:noFill/>
                  </a:tcPr>
                </a:tc>
                <a:tc>
                  <a:txBody>
                    <a:bodyPr/>
                    <a:lstStyle/>
                    <a:p>
                      <a:r>
                        <a:rPr lang="en-GB" sz="1500"/>
                        <a:t>0.9</a:t>
                      </a:r>
                    </a:p>
                  </a:txBody>
                  <a:tcPr marL="58018" marR="58018" marT="29009" marB="29009" anchor="ctr">
                    <a:lnL>
                      <a:noFill/>
                    </a:lnL>
                    <a:lnR>
                      <a:noFill/>
                    </a:lnR>
                    <a:lnT>
                      <a:noFill/>
                    </a:lnT>
                    <a:lnB>
                      <a:noFill/>
                    </a:lnB>
                    <a:noFill/>
                  </a:tcPr>
                </a:tc>
                <a:extLst>
                  <a:ext uri="{0D108BD9-81ED-4DB2-BD59-A6C34878D82A}">
                    <a16:rowId xmlns:a16="http://schemas.microsoft.com/office/drawing/2014/main" val="3958171267"/>
                  </a:ext>
                </a:extLst>
              </a:tr>
              <a:tr h="289253">
                <a:tc>
                  <a:txBody>
                    <a:bodyPr/>
                    <a:lstStyle/>
                    <a:p>
                      <a:endParaRPr lang="en-GB" sz="1500"/>
                    </a:p>
                  </a:txBody>
                  <a:tcPr marL="58018" marR="58018" marT="29009" marB="29009" anchor="ctr">
                    <a:lnL>
                      <a:noFill/>
                    </a:lnL>
                    <a:lnR>
                      <a:noFill/>
                    </a:lnR>
                    <a:lnT>
                      <a:noFill/>
                    </a:lnT>
                    <a:lnB>
                      <a:noFill/>
                    </a:lnB>
                    <a:noFill/>
                  </a:tcPr>
                </a:tc>
                <a:tc>
                  <a:txBody>
                    <a:bodyPr/>
                    <a:lstStyle/>
                    <a:p>
                      <a:r>
                        <a:rPr lang="en-GB" sz="1500"/>
                        <a:t>do_sample</a:t>
                      </a:r>
                    </a:p>
                  </a:txBody>
                  <a:tcPr marL="58018" marR="58018" marT="29009" marB="29009" anchor="ctr">
                    <a:lnL>
                      <a:noFill/>
                    </a:lnL>
                    <a:lnR>
                      <a:noFill/>
                    </a:lnR>
                    <a:lnT>
                      <a:noFill/>
                    </a:lnT>
                    <a:lnB>
                      <a:noFill/>
                    </a:lnB>
                    <a:noFill/>
                  </a:tcPr>
                </a:tc>
                <a:tc>
                  <a:txBody>
                    <a:bodyPr/>
                    <a:lstStyle/>
                    <a:p>
                      <a:r>
                        <a:rPr lang="en-GB" sz="1500"/>
                        <a:t>True</a:t>
                      </a:r>
                    </a:p>
                  </a:txBody>
                  <a:tcPr marL="58018" marR="58018" marT="29009" marB="29009" anchor="ctr">
                    <a:lnL>
                      <a:noFill/>
                    </a:lnL>
                    <a:lnR>
                      <a:noFill/>
                    </a:lnR>
                    <a:lnT>
                      <a:noFill/>
                    </a:lnT>
                    <a:lnB>
                      <a:noFill/>
                    </a:lnB>
                    <a:noFill/>
                  </a:tcPr>
                </a:tc>
                <a:extLst>
                  <a:ext uri="{0D108BD9-81ED-4DB2-BD59-A6C34878D82A}">
                    <a16:rowId xmlns:a16="http://schemas.microsoft.com/office/drawing/2014/main" val="321538481"/>
                  </a:ext>
                </a:extLst>
              </a:tr>
              <a:tr h="289253">
                <a:tc>
                  <a:txBody>
                    <a:bodyPr/>
                    <a:lstStyle/>
                    <a:p>
                      <a:endParaRPr lang="en-GB" sz="1500"/>
                    </a:p>
                  </a:txBody>
                  <a:tcPr marL="58018" marR="58018" marT="29009" marB="29009" anchor="ctr">
                    <a:lnL>
                      <a:noFill/>
                    </a:lnL>
                    <a:lnR>
                      <a:noFill/>
                    </a:lnR>
                    <a:lnT>
                      <a:noFill/>
                    </a:lnT>
                    <a:lnB>
                      <a:noFill/>
                    </a:lnB>
                    <a:noFill/>
                  </a:tcPr>
                </a:tc>
                <a:tc>
                  <a:txBody>
                    <a:bodyPr/>
                    <a:lstStyle/>
                    <a:p>
                      <a:r>
                        <a:rPr lang="en-GB" sz="1500" dirty="0" err="1"/>
                        <a:t>eos_token_id</a:t>
                      </a:r>
                      <a:endParaRPr lang="en-GB" sz="1500" dirty="0"/>
                    </a:p>
                  </a:txBody>
                  <a:tcPr marL="58018" marR="58018" marT="29009" marB="29009" anchor="ctr">
                    <a:lnL>
                      <a:noFill/>
                    </a:lnL>
                    <a:lnR>
                      <a:noFill/>
                    </a:lnR>
                    <a:lnT>
                      <a:noFill/>
                    </a:lnT>
                    <a:lnB>
                      <a:noFill/>
                    </a:lnB>
                    <a:noFill/>
                  </a:tcPr>
                </a:tc>
                <a:tc>
                  <a:txBody>
                    <a:bodyPr/>
                    <a:lstStyle/>
                    <a:p>
                      <a:r>
                        <a:rPr lang="en-GB" sz="1500" dirty="0" err="1"/>
                        <a:t>tokenizer.eos_token_id</a:t>
                      </a:r>
                      <a:endParaRPr lang="en-GB" sz="1500" dirty="0"/>
                    </a:p>
                  </a:txBody>
                  <a:tcPr marL="58018" marR="58018" marT="29009" marB="29009" anchor="ctr">
                    <a:lnL>
                      <a:noFill/>
                    </a:lnL>
                    <a:lnR>
                      <a:noFill/>
                    </a:lnR>
                    <a:lnT>
                      <a:noFill/>
                    </a:lnT>
                    <a:lnB>
                      <a:noFill/>
                    </a:lnB>
                    <a:noFill/>
                  </a:tcPr>
                </a:tc>
                <a:extLst>
                  <a:ext uri="{0D108BD9-81ED-4DB2-BD59-A6C34878D82A}">
                    <a16:rowId xmlns:a16="http://schemas.microsoft.com/office/drawing/2014/main" val="3763468387"/>
                  </a:ext>
                </a:extLst>
              </a:tr>
              <a:tr h="289253">
                <a:tc>
                  <a:txBody>
                    <a:bodyPr/>
                    <a:lstStyle/>
                    <a:p>
                      <a:r>
                        <a:rPr lang="en-GB" sz="1500" b="1"/>
                        <a:t>Batch Handling</a:t>
                      </a:r>
                      <a:endParaRPr lang="en-GB" sz="1500"/>
                    </a:p>
                  </a:txBody>
                  <a:tcPr marL="58018" marR="58018" marT="29009" marB="29009" anchor="ctr">
                    <a:lnL>
                      <a:noFill/>
                    </a:lnL>
                    <a:lnR>
                      <a:noFill/>
                    </a:lnR>
                    <a:lnT>
                      <a:noFill/>
                    </a:lnT>
                    <a:lnB>
                      <a:noFill/>
                    </a:lnB>
                    <a:noFill/>
                  </a:tcPr>
                </a:tc>
                <a:tc>
                  <a:txBody>
                    <a:bodyPr/>
                    <a:lstStyle/>
                    <a:p>
                      <a:r>
                        <a:rPr lang="en-GB" sz="1500" dirty="0"/>
                        <a:t>Batch Size</a:t>
                      </a:r>
                    </a:p>
                  </a:txBody>
                  <a:tcPr marL="58018" marR="58018" marT="29009" marB="29009" anchor="ctr">
                    <a:lnL>
                      <a:noFill/>
                    </a:lnL>
                    <a:lnR>
                      <a:noFill/>
                    </a:lnR>
                    <a:lnT>
                      <a:noFill/>
                    </a:lnT>
                    <a:lnB>
                      <a:noFill/>
                    </a:lnB>
                    <a:noFill/>
                  </a:tcPr>
                </a:tc>
                <a:tc>
                  <a:txBody>
                    <a:bodyPr/>
                    <a:lstStyle/>
                    <a:p>
                      <a:r>
                        <a:rPr lang="en-GB" sz="1500" dirty="0"/>
                        <a:t>2</a:t>
                      </a:r>
                    </a:p>
                  </a:txBody>
                  <a:tcPr marL="58018" marR="58018" marT="29009" marB="29009" anchor="ctr">
                    <a:lnL>
                      <a:noFill/>
                    </a:lnL>
                    <a:lnR>
                      <a:noFill/>
                    </a:lnR>
                    <a:lnT>
                      <a:noFill/>
                    </a:lnT>
                    <a:lnB>
                      <a:noFill/>
                    </a:lnB>
                    <a:noFill/>
                  </a:tcPr>
                </a:tc>
                <a:extLst>
                  <a:ext uri="{0D108BD9-81ED-4DB2-BD59-A6C34878D82A}">
                    <a16:rowId xmlns:a16="http://schemas.microsoft.com/office/drawing/2014/main" val="2104037001"/>
                  </a:ext>
                </a:extLst>
              </a:tr>
            </a:tbl>
          </a:graphicData>
        </a:graphic>
      </p:graphicFrame>
    </p:spTree>
    <p:extLst>
      <p:ext uri="{BB962C8B-B14F-4D97-AF65-F5344CB8AC3E}">
        <p14:creationId xmlns:p14="http://schemas.microsoft.com/office/powerpoint/2010/main" val="2059267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365125"/>
            <a:ext cx="8900604" cy="1325563"/>
          </a:xfrm>
        </p:spPr>
        <p:txBody>
          <a:bodyPr>
            <a:normAutofit/>
            <a:scene3d>
              <a:camera prst="orthographicFront"/>
              <a:lightRig rig="soft" dir="t">
                <a:rot lat="0" lon="0" rev="15600000"/>
              </a:lightRig>
            </a:scene3d>
            <a:sp3d extrusionH="57150" prstMaterial="softEdge">
              <a:bevelT w="25400" h="38100"/>
            </a:sp3d>
          </a:bodyPr>
          <a:lstStyle/>
          <a:p>
            <a:pPr algn="just"/>
            <a:r>
              <a:rPr lang="tr-TR"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 CONCLUSION</a:t>
            </a: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İçerik Yer Tutucusu 4">
            <a:extLst>
              <a:ext uri="{FF2B5EF4-FFF2-40B4-BE49-F238E27FC236}">
                <a16:creationId xmlns:a16="http://schemas.microsoft.com/office/drawing/2014/main" id="{55E720EE-B8D6-880C-9495-FDC72A47AFD9}"/>
              </a:ext>
            </a:extLst>
          </p:cNvPr>
          <p:cNvSpPr>
            <a:spLocks noGrp="1"/>
          </p:cNvSpPr>
          <p:nvPr>
            <p:ph idx="1"/>
          </p:nvPr>
        </p:nvSpPr>
        <p:spPr>
          <a:xfrm>
            <a:off x="838200" y="1911084"/>
            <a:ext cx="10515600" cy="4351338"/>
          </a:xfrm>
        </p:spPr>
        <p:txBody>
          <a:bodyPr/>
          <a:lstStyle/>
          <a:p>
            <a:r>
              <a:rPr lang="tr-TR" dirty="0"/>
              <a:t>BLEU </a:t>
            </a:r>
            <a:r>
              <a:rPr lang="tr-TR" dirty="0" err="1"/>
              <a:t>Score</a:t>
            </a:r>
            <a:r>
              <a:rPr lang="tr-TR" dirty="0"/>
              <a:t>:</a:t>
            </a:r>
            <a:br>
              <a:rPr lang="tr-TR" dirty="0"/>
            </a:br>
            <a:endParaRPr lang="en-GB" dirty="0"/>
          </a:p>
        </p:txBody>
      </p:sp>
      <p:pic>
        <p:nvPicPr>
          <p:cNvPr id="7" name="Resim 6" descr="metin, ekran görüntüsü, öykü gelişim çizgisi; kumpas; grafiğini çıkarma, diyagram içeren bir resim&#10;&#10;Yapay zeka tarafından oluşturulan içerik yanlış olabilir.">
            <a:extLst>
              <a:ext uri="{FF2B5EF4-FFF2-40B4-BE49-F238E27FC236}">
                <a16:creationId xmlns:a16="http://schemas.microsoft.com/office/drawing/2014/main" id="{37768C48-733C-E164-C19E-DEC8BA8D1A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2530" y="2329869"/>
            <a:ext cx="8254614" cy="4163006"/>
          </a:xfrm>
          <a:prstGeom prst="rect">
            <a:avLst/>
          </a:prstGeom>
        </p:spPr>
      </p:pic>
    </p:spTree>
    <p:extLst>
      <p:ext uri="{BB962C8B-B14F-4D97-AF65-F5344CB8AC3E}">
        <p14:creationId xmlns:p14="http://schemas.microsoft.com/office/powerpoint/2010/main" val="3343512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365125"/>
            <a:ext cx="8900604" cy="1325563"/>
          </a:xfrm>
        </p:spPr>
        <p:txBody>
          <a:bodyPr>
            <a:normAutofit/>
            <a:scene3d>
              <a:camera prst="orthographicFront"/>
              <a:lightRig rig="soft" dir="t">
                <a:rot lat="0" lon="0" rev="15600000"/>
              </a:lightRig>
            </a:scene3d>
            <a:sp3d extrusionH="57150" prstMaterial="softEdge">
              <a:bevelT w="25400" h="38100"/>
            </a:sp3d>
          </a:bodyPr>
          <a:lstStyle/>
          <a:p>
            <a:pPr algn="just"/>
            <a:r>
              <a:rPr lang="tr-TR"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 CONCLUSION</a:t>
            </a: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4" name="Resim 3" descr="metin, ekran görüntüsü, çizgi, sayı, numara içeren bir resim&#10;&#10;Yapay zeka tarafından oluşturulan içerik yanlış olabilir.">
            <a:extLst>
              <a:ext uri="{FF2B5EF4-FFF2-40B4-BE49-F238E27FC236}">
                <a16:creationId xmlns:a16="http://schemas.microsoft.com/office/drawing/2014/main" id="{01D7DBF2-1DCE-1C52-DD15-5AD1C4906A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1091" y="1875335"/>
            <a:ext cx="9633182" cy="4825499"/>
          </a:xfrm>
          <a:prstGeom prst="rect">
            <a:avLst/>
          </a:prstGeom>
        </p:spPr>
      </p:pic>
      <p:sp>
        <p:nvSpPr>
          <p:cNvPr id="5" name="İçerik Yer Tutucusu 4">
            <a:extLst>
              <a:ext uri="{FF2B5EF4-FFF2-40B4-BE49-F238E27FC236}">
                <a16:creationId xmlns:a16="http://schemas.microsoft.com/office/drawing/2014/main" id="{55E720EE-B8D6-880C-9495-FDC72A47AFD9}"/>
              </a:ext>
            </a:extLst>
          </p:cNvPr>
          <p:cNvSpPr>
            <a:spLocks noGrp="1"/>
          </p:cNvSpPr>
          <p:nvPr>
            <p:ph idx="1"/>
          </p:nvPr>
        </p:nvSpPr>
        <p:spPr>
          <a:xfrm>
            <a:off x="838200" y="1911084"/>
            <a:ext cx="10515600" cy="4351338"/>
          </a:xfrm>
        </p:spPr>
        <p:txBody>
          <a:bodyPr/>
          <a:lstStyle/>
          <a:p>
            <a:r>
              <a:rPr lang="tr-TR" dirty="0" err="1"/>
              <a:t>BertScore</a:t>
            </a:r>
            <a:r>
              <a:rPr lang="tr-TR" dirty="0"/>
              <a:t>:</a:t>
            </a:r>
            <a:br>
              <a:rPr lang="tr-TR" dirty="0"/>
            </a:br>
            <a:endParaRPr lang="en-GB" dirty="0"/>
          </a:p>
        </p:txBody>
      </p:sp>
    </p:spTree>
    <p:extLst>
      <p:ext uri="{BB962C8B-B14F-4D97-AF65-F5344CB8AC3E}">
        <p14:creationId xmlns:p14="http://schemas.microsoft.com/office/powerpoint/2010/main" val="3115078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365125"/>
            <a:ext cx="8900604" cy="1325563"/>
          </a:xfrm>
        </p:spPr>
        <p:txBody>
          <a:bodyPr>
            <a:normAutofit/>
            <a:scene3d>
              <a:camera prst="orthographicFront"/>
              <a:lightRig rig="soft" dir="t">
                <a:rot lat="0" lon="0" rev="15600000"/>
              </a:lightRig>
            </a:scene3d>
            <a:sp3d extrusionH="57150" prstMaterial="softEdge">
              <a:bevelT w="25400" h="38100"/>
            </a:sp3d>
          </a:bodyPr>
          <a:lstStyle/>
          <a:p>
            <a:pPr algn="just"/>
            <a:r>
              <a:rPr lang="tr-TR"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 CONCLUSION</a:t>
            </a: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4" name="İçerik Yer Tutucusu 3">
            <a:extLst>
              <a:ext uri="{FF2B5EF4-FFF2-40B4-BE49-F238E27FC236}">
                <a16:creationId xmlns:a16="http://schemas.microsoft.com/office/drawing/2014/main" id="{8B5F989D-59E2-C482-DF9A-E8D8F3F6D55C}"/>
              </a:ext>
            </a:extLst>
          </p:cNvPr>
          <p:cNvSpPr>
            <a:spLocks noGrp="1"/>
          </p:cNvSpPr>
          <p:nvPr>
            <p:ph idx="1"/>
          </p:nvPr>
        </p:nvSpPr>
        <p:spPr>
          <a:xfrm>
            <a:off x="838200" y="1911083"/>
            <a:ext cx="3656888" cy="4351338"/>
          </a:xfrm>
        </p:spPr>
        <p:txBody>
          <a:bodyPr>
            <a:normAutofit/>
          </a:bodyPr>
          <a:lstStyle/>
          <a:p>
            <a:r>
              <a:rPr lang="tr-TR" sz="1800" dirty="0"/>
              <a:t>Apart </a:t>
            </a:r>
            <a:r>
              <a:rPr lang="tr-TR" sz="1800" dirty="0" err="1"/>
              <a:t>from</a:t>
            </a:r>
            <a:r>
              <a:rPr lang="tr-TR" sz="1800" dirty="0"/>
              <a:t> </a:t>
            </a:r>
            <a:r>
              <a:rPr lang="tr-TR" sz="1800" dirty="0" err="1"/>
              <a:t>Bleu</a:t>
            </a:r>
            <a:r>
              <a:rPr lang="tr-TR" sz="1800" dirty="0"/>
              <a:t> </a:t>
            </a:r>
            <a:r>
              <a:rPr lang="tr-TR" sz="1800" dirty="0" err="1"/>
              <a:t>and</a:t>
            </a:r>
            <a:r>
              <a:rPr lang="tr-TR" sz="1800" dirty="0"/>
              <a:t> </a:t>
            </a:r>
            <a:r>
              <a:rPr lang="tr-TR" sz="1800" dirty="0" err="1"/>
              <a:t>BertScore</a:t>
            </a:r>
            <a:r>
              <a:rPr lang="tr-TR" sz="1800" dirty="0"/>
              <a:t> </a:t>
            </a:r>
            <a:r>
              <a:rPr lang="tr-TR" sz="1800" dirty="0" err="1"/>
              <a:t>we</a:t>
            </a:r>
            <a:r>
              <a:rPr lang="tr-TR" sz="1800" dirty="0"/>
              <a:t> can </a:t>
            </a:r>
            <a:r>
              <a:rPr lang="tr-TR" sz="1800" dirty="0" err="1"/>
              <a:t>see</a:t>
            </a:r>
            <a:r>
              <a:rPr lang="tr-TR" sz="1800" dirty="0"/>
              <a:t> </a:t>
            </a:r>
            <a:r>
              <a:rPr lang="tr-TR" sz="1800" dirty="0" err="1"/>
              <a:t>that</a:t>
            </a:r>
            <a:r>
              <a:rPr lang="tr-TR" sz="1800" dirty="0"/>
              <a:t> </a:t>
            </a:r>
            <a:r>
              <a:rPr lang="tr-TR" sz="1800" dirty="0" err="1"/>
              <a:t>we</a:t>
            </a:r>
            <a:r>
              <a:rPr lang="tr-TR" sz="1800" dirty="0"/>
              <a:t> had </a:t>
            </a:r>
            <a:r>
              <a:rPr lang="tr-TR" sz="1800" dirty="0" err="1"/>
              <a:t>unfinished</a:t>
            </a:r>
            <a:r>
              <a:rPr lang="tr-TR" sz="1800" dirty="0"/>
              <a:t> </a:t>
            </a:r>
            <a:r>
              <a:rPr lang="tr-TR" sz="1800" dirty="0" err="1"/>
              <a:t>responses</a:t>
            </a:r>
            <a:r>
              <a:rPr lang="tr-TR" sz="1800" dirty="0"/>
              <a:t> </a:t>
            </a:r>
            <a:r>
              <a:rPr lang="tr-TR" sz="1800" dirty="0" err="1"/>
              <a:t>generated</a:t>
            </a:r>
            <a:r>
              <a:rPr lang="tr-TR" sz="1800" dirty="0"/>
              <a:t> </a:t>
            </a:r>
            <a:r>
              <a:rPr lang="tr-TR" sz="1800" dirty="0" err="1"/>
              <a:t>by</a:t>
            </a:r>
            <a:r>
              <a:rPr lang="tr-TR" sz="1800" dirty="0"/>
              <a:t> </a:t>
            </a:r>
            <a:r>
              <a:rPr lang="tr-TR" sz="1800" dirty="0" err="1"/>
              <a:t>base</a:t>
            </a:r>
            <a:r>
              <a:rPr lang="tr-TR" sz="1800" dirty="0"/>
              <a:t> </a:t>
            </a:r>
            <a:r>
              <a:rPr lang="tr-TR" sz="1800" dirty="0" err="1"/>
              <a:t>Nous</a:t>
            </a:r>
            <a:r>
              <a:rPr lang="tr-TR" sz="1800" dirty="0"/>
              <a:t> </a:t>
            </a:r>
            <a:r>
              <a:rPr lang="tr-TR" sz="1800" dirty="0" err="1"/>
              <a:t>Hermes</a:t>
            </a:r>
            <a:r>
              <a:rPr lang="tr-TR" sz="1800" dirty="0"/>
              <a:t> </a:t>
            </a:r>
            <a:r>
              <a:rPr lang="tr-TR" sz="1800" dirty="0" err="1"/>
              <a:t>and</a:t>
            </a:r>
            <a:r>
              <a:rPr lang="tr-TR" sz="1800" dirty="0"/>
              <a:t> </a:t>
            </a:r>
            <a:r>
              <a:rPr lang="tr-TR" sz="1800" dirty="0" err="1"/>
              <a:t>after</a:t>
            </a:r>
            <a:r>
              <a:rPr lang="tr-TR" sz="1800" dirty="0"/>
              <a:t> </a:t>
            </a:r>
            <a:r>
              <a:rPr lang="tr-TR" sz="1800" dirty="0" err="1"/>
              <a:t>fine</a:t>
            </a:r>
            <a:r>
              <a:rPr lang="tr-TR" sz="1800" dirty="0"/>
              <a:t> </a:t>
            </a:r>
            <a:r>
              <a:rPr lang="tr-TR" sz="1800" dirty="0" err="1"/>
              <a:t>tuning</a:t>
            </a:r>
            <a:r>
              <a:rPr lang="tr-TR" sz="1800" dirty="0"/>
              <a:t> </a:t>
            </a:r>
            <a:r>
              <a:rPr lang="tr-TR" sz="1800" dirty="0" err="1"/>
              <a:t>that</a:t>
            </a:r>
            <a:r>
              <a:rPr lang="tr-TR" sz="1800" dirty="0"/>
              <a:t> problem </a:t>
            </a:r>
            <a:r>
              <a:rPr lang="tr-TR" sz="1800" dirty="0" err="1"/>
              <a:t>was</a:t>
            </a:r>
            <a:r>
              <a:rPr lang="tr-TR" sz="1800" dirty="0"/>
              <a:t> </a:t>
            </a:r>
            <a:r>
              <a:rPr lang="tr-TR" sz="1800" dirty="0" err="1"/>
              <a:t>also</a:t>
            </a:r>
            <a:r>
              <a:rPr lang="tr-TR" sz="1800" dirty="0"/>
              <a:t> </a:t>
            </a:r>
            <a:r>
              <a:rPr lang="tr-TR" sz="1800" dirty="0" err="1"/>
              <a:t>solved</a:t>
            </a:r>
            <a:r>
              <a:rPr lang="tr-TR" sz="1800" dirty="0"/>
              <a:t>.</a:t>
            </a:r>
            <a:endParaRPr lang="en-GB" sz="1800" dirty="0"/>
          </a:p>
        </p:txBody>
      </p:sp>
      <p:pic>
        <p:nvPicPr>
          <p:cNvPr id="8" name="Resim 7">
            <a:extLst>
              <a:ext uri="{FF2B5EF4-FFF2-40B4-BE49-F238E27FC236}">
                <a16:creationId xmlns:a16="http://schemas.microsoft.com/office/drawing/2014/main" id="{FCA832E5-E106-BEC8-0708-650A7008E366}"/>
              </a:ext>
            </a:extLst>
          </p:cNvPr>
          <p:cNvPicPr>
            <a:picLocks noChangeAspect="1"/>
          </p:cNvPicPr>
          <p:nvPr/>
        </p:nvPicPr>
        <p:blipFill>
          <a:blip r:embed="rId2"/>
          <a:stretch>
            <a:fillRect/>
          </a:stretch>
        </p:blipFill>
        <p:spPr>
          <a:xfrm>
            <a:off x="815411" y="3422591"/>
            <a:ext cx="4679362" cy="3022951"/>
          </a:xfrm>
          <a:prstGeom prst="rect">
            <a:avLst/>
          </a:prstGeom>
        </p:spPr>
      </p:pic>
      <p:sp>
        <p:nvSpPr>
          <p:cNvPr id="9" name="İçerik Yer Tutucusu 3">
            <a:extLst>
              <a:ext uri="{FF2B5EF4-FFF2-40B4-BE49-F238E27FC236}">
                <a16:creationId xmlns:a16="http://schemas.microsoft.com/office/drawing/2014/main" id="{6FEC3B38-DEF5-86AB-B40B-6ADC9441A26C}"/>
              </a:ext>
            </a:extLst>
          </p:cNvPr>
          <p:cNvSpPr txBox="1">
            <a:spLocks/>
          </p:cNvSpPr>
          <p:nvPr/>
        </p:nvSpPr>
        <p:spPr>
          <a:xfrm>
            <a:off x="6947019" y="1911083"/>
            <a:ext cx="365688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800" dirty="0" err="1"/>
              <a:t>Llama</a:t>
            </a:r>
            <a:r>
              <a:rPr lang="tr-TR" sz="1800" dirty="0"/>
              <a:t> 3 </a:t>
            </a:r>
            <a:r>
              <a:rPr lang="tr-TR" sz="1800" dirty="0" err="1"/>
              <a:t>base</a:t>
            </a:r>
            <a:r>
              <a:rPr lang="tr-TR" sz="1800" dirty="0"/>
              <a:t> model </a:t>
            </a:r>
            <a:r>
              <a:rPr lang="tr-TR" sz="1800" dirty="0" err="1"/>
              <a:t>finished</a:t>
            </a:r>
            <a:r>
              <a:rPr lang="tr-TR" sz="1800" dirty="0"/>
              <a:t> </a:t>
            </a:r>
            <a:r>
              <a:rPr lang="tr-TR" sz="1800" dirty="0" err="1"/>
              <a:t>its</a:t>
            </a:r>
            <a:r>
              <a:rPr lang="tr-TR" sz="1800" dirty="0"/>
              <a:t> </a:t>
            </a:r>
            <a:r>
              <a:rPr lang="tr-TR" sz="1800" dirty="0" err="1"/>
              <a:t>responses</a:t>
            </a:r>
            <a:r>
              <a:rPr lang="tr-TR" sz="1800" dirty="0"/>
              <a:t> </a:t>
            </a:r>
            <a:r>
              <a:rPr lang="tr-TR" sz="1800" dirty="0" err="1"/>
              <a:t>with</a:t>
            </a:r>
            <a:r>
              <a:rPr lang="tr-TR" sz="1800" dirty="0"/>
              <a:t> </a:t>
            </a:r>
            <a:r>
              <a:rPr lang="tr-TR" sz="1800" dirty="0" err="1"/>
              <a:t>questions</a:t>
            </a:r>
            <a:r>
              <a:rPr lang="tr-TR" sz="1800" dirty="0"/>
              <a:t> </a:t>
            </a:r>
            <a:r>
              <a:rPr lang="tr-TR" sz="1800" dirty="0" err="1"/>
              <a:t>most</a:t>
            </a:r>
            <a:r>
              <a:rPr lang="tr-TR" sz="1800" dirty="0"/>
              <a:t> of the time, but </a:t>
            </a:r>
            <a:r>
              <a:rPr lang="tr-TR" sz="1800" dirty="0" err="1"/>
              <a:t>fine</a:t>
            </a:r>
            <a:r>
              <a:rPr lang="tr-TR" sz="1800" dirty="0"/>
              <a:t> </a:t>
            </a:r>
            <a:r>
              <a:rPr lang="tr-TR" sz="1800" dirty="0" err="1"/>
              <a:t>tuned</a:t>
            </a:r>
            <a:r>
              <a:rPr lang="tr-TR" sz="1800" dirty="0"/>
              <a:t> </a:t>
            </a:r>
            <a:r>
              <a:rPr lang="tr-TR" sz="1800" dirty="0" err="1"/>
              <a:t>model’s</a:t>
            </a:r>
            <a:r>
              <a:rPr lang="tr-TR" sz="1800" dirty="0"/>
              <a:t> </a:t>
            </a:r>
            <a:r>
              <a:rPr lang="tr-TR" sz="1800" dirty="0" err="1"/>
              <a:t>responses</a:t>
            </a:r>
            <a:r>
              <a:rPr lang="tr-TR" sz="1800" dirty="0"/>
              <a:t> </a:t>
            </a:r>
            <a:r>
              <a:rPr lang="tr-TR" sz="1800" dirty="0" err="1"/>
              <a:t>was</a:t>
            </a:r>
            <a:r>
              <a:rPr lang="tr-TR" sz="1800" dirty="0"/>
              <a:t> </a:t>
            </a:r>
            <a:r>
              <a:rPr lang="tr-TR" sz="1800" dirty="0" err="1"/>
              <a:t>closer</a:t>
            </a:r>
            <a:r>
              <a:rPr lang="tr-TR" sz="1800" dirty="0"/>
              <a:t> </a:t>
            </a:r>
            <a:r>
              <a:rPr lang="tr-TR" sz="1800" dirty="0" err="1"/>
              <a:t>to</a:t>
            </a:r>
            <a:r>
              <a:rPr lang="tr-TR" sz="1800" dirty="0"/>
              <a:t> the </a:t>
            </a:r>
            <a:r>
              <a:rPr lang="tr-TR" sz="1800" dirty="0" err="1"/>
              <a:t>completions</a:t>
            </a:r>
            <a:r>
              <a:rPr lang="tr-TR" sz="1800" dirty="0"/>
              <a:t> </a:t>
            </a:r>
            <a:r>
              <a:rPr lang="tr-TR" sz="1800" dirty="0" err="1"/>
              <a:t>from</a:t>
            </a:r>
            <a:r>
              <a:rPr lang="tr-TR" sz="1800" dirty="0"/>
              <a:t> the </a:t>
            </a:r>
            <a:r>
              <a:rPr lang="tr-TR" sz="1800" dirty="0" err="1"/>
              <a:t>dataset</a:t>
            </a:r>
            <a:r>
              <a:rPr lang="tr-TR" sz="1800" dirty="0"/>
              <a:t>.</a:t>
            </a:r>
            <a:endParaRPr lang="en-GB" sz="1800" dirty="0"/>
          </a:p>
        </p:txBody>
      </p:sp>
      <p:pic>
        <p:nvPicPr>
          <p:cNvPr id="13" name="Resim 12">
            <a:extLst>
              <a:ext uri="{FF2B5EF4-FFF2-40B4-BE49-F238E27FC236}">
                <a16:creationId xmlns:a16="http://schemas.microsoft.com/office/drawing/2014/main" id="{D65FF6E3-7F8E-DC66-991A-D3C8A2156D52}"/>
              </a:ext>
            </a:extLst>
          </p:cNvPr>
          <p:cNvPicPr>
            <a:picLocks noChangeAspect="1"/>
          </p:cNvPicPr>
          <p:nvPr/>
        </p:nvPicPr>
        <p:blipFill>
          <a:blip r:embed="rId3"/>
          <a:stretch>
            <a:fillRect/>
          </a:stretch>
        </p:blipFill>
        <p:spPr>
          <a:xfrm>
            <a:off x="6571158" y="3422590"/>
            <a:ext cx="4701594" cy="3022951"/>
          </a:xfrm>
          <a:prstGeom prst="rect">
            <a:avLst/>
          </a:prstGeom>
        </p:spPr>
      </p:pic>
    </p:spTree>
    <p:extLst>
      <p:ext uri="{BB962C8B-B14F-4D97-AF65-F5344CB8AC3E}">
        <p14:creationId xmlns:p14="http://schemas.microsoft.com/office/powerpoint/2010/main" val="3148560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çerik Yer Tutucusu 6">
            <a:extLst>
              <a:ext uri="{FF2B5EF4-FFF2-40B4-BE49-F238E27FC236}">
                <a16:creationId xmlns:a16="http://schemas.microsoft.com/office/drawing/2014/main" id="{D0800760-2037-52BB-CD2F-222AF2AF75C1}"/>
              </a:ext>
            </a:extLst>
          </p:cNvPr>
          <p:cNvSpPr>
            <a:spLocks noGrp="1"/>
          </p:cNvSpPr>
          <p:nvPr>
            <p:ph idx="1"/>
          </p:nvPr>
        </p:nvSpPr>
        <p:spPr>
          <a:xfrm>
            <a:off x="838200" y="3127761"/>
            <a:ext cx="10515600" cy="3049202"/>
          </a:xfrm>
        </p:spPr>
        <p:txBody>
          <a:bodyPr/>
          <a:lstStyle/>
          <a:p>
            <a:r>
              <a:rPr lang="en-GB" sz="1500" dirty="0">
                <a:latin typeface="Times New Roman" panose="02020603050405020304" pitchFamily="18" charset="0"/>
                <a:cs typeface="Times New Roman" panose="02020603050405020304" pitchFamily="18" charset="0"/>
              </a:rPr>
              <a:t>Enhance System Prompt Design</a:t>
            </a:r>
            <a:endParaRPr lang="tr-TR" sz="1500" dirty="0">
              <a:latin typeface="Times New Roman" panose="02020603050405020304" pitchFamily="18" charset="0"/>
              <a:cs typeface="Times New Roman" panose="02020603050405020304" pitchFamily="18" charset="0"/>
            </a:endParaRPr>
          </a:p>
          <a:p>
            <a:r>
              <a:rPr lang="en-GB" sz="1500" dirty="0">
                <a:latin typeface="Times New Roman" panose="02020603050405020304" pitchFamily="18" charset="0"/>
                <a:cs typeface="Times New Roman" panose="02020603050405020304" pitchFamily="18" charset="0"/>
              </a:rPr>
              <a:t>Optimize Hyperparameters</a:t>
            </a:r>
            <a:endParaRPr lang="tr-TR" sz="1500" dirty="0">
              <a:latin typeface="Times New Roman" panose="02020603050405020304" pitchFamily="18" charset="0"/>
              <a:cs typeface="Times New Roman" panose="02020603050405020304" pitchFamily="18" charset="0"/>
            </a:endParaRPr>
          </a:p>
          <a:p>
            <a:r>
              <a:rPr lang="en-GB" sz="1500" dirty="0">
                <a:latin typeface="Times New Roman" panose="02020603050405020304" pitchFamily="18" charset="0"/>
                <a:cs typeface="Times New Roman" panose="02020603050405020304" pitchFamily="18" charset="0"/>
              </a:rPr>
              <a:t>Use Larger and More Diverse Datasets</a:t>
            </a:r>
            <a:endParaRPr lang="tr-TR" sz="1500" dirty="0">
              <a:latin typeface="Times New Roman" panose="02020603050405020304" pitchFamily="18" charset="0"/>
              <a:cs typeface="Times New Roman" panose="02020603050405020304" pitchFamily="18" charset="0"/>
            </a:endParaRPr>
          </a:p>
          <a:p>
            <a:r>
              <a:rPr lang="en-GB" sz="1500" dirty="0">
                <a:latin typeface="Times New Roman" panose="02020603050405020304" pitchFamily="18" charset="0"/>
                <a:cs typeface="Times New Roman" panose="02020603050405020304" pitchFamily="18" charset="0"/>
              </a:rPr>
              <a:t>Experiment with Different </a:t>
            </a:r>
            <a:r>
              <a:rPr lang="en-GB" sz="1500" dirty="0" err="1">
                <a:latin typeface="Times New Roman" panose="02020603050405020304" pitchFamily="18" charset="0"/>
                <a:cs typeface="Times New Roman" panose="02020603050405020304" pitchFamily="18" charset="0"/>
              </a:rPr>
              <a:t>LoRA</a:t>
            </a:r>
            <a:r>
              <a:rPr lang="en-GB" sz="1500" dirty="0">
                <a:latin typeface="Times New Roman" panose="02020603050405020304" pitchFamily="18" charset="0"/>
                <a:cs typeface="Times New Roman" panose="02020603050405020304" pitchFamily="18" charset="0"/>
              </a:rPr>
              <a:t> Configs</a:t>
            </a:r>
            <a:endParaRPr lang="tr-TR" sz="1500" dirty="0">
              <a:latin typeface="Times New Roman" panose="02020603050405020304" pitchFamily="18" charset="0"/>
              <a:cs typeface="Times New Roman" panose="02020603050405020304" pitchFamily="18" charset="0"/>
            </a:endParaRPr>
          </a:p>
          <a:p>
            <a:r>
              <a:rPr lang="en-GB" sz="1500" dirty="0">
                <a:latin typeface="Times New Roman" panose="02020603050405020304" pitchFamily="18" charset="0"/>
                <a:cs typeface="Times New Roman" panose="02020603050405020304" pitchFamily="18" charset="0"/>
              </a:rPr>
              <a:t>Improve Tokenization Strategy</a:t>
            </a:r>
            <a:br>
              <a:rPr lang="en-GB" dirty="0"/>
            </a:br>
            <a:br>
              <a:rPr lang="en-GB" dirty="0"/>
            </a:br>
            <a:endParaRPr lang="en-GB" dirty="0"/>
          </a:p>
        </p:txBody>
      </p:sp>
      <p:sp>
        <p:nvSpPr>
          <p:cNvPr id="8" name="Metin kutusu 7">
            <a:extLst>
              <a:ext uri="{FF2B5EF4-FFF2-40B4-BE49-F238E27FC236}">
                <a16:creationId xmlns:a16="http://schemas.microsoft.com/office/drawing/2014/main" id="{8DF37300-03D1-95D7-2830-5885A72FA11C}"/>
              </a:ext>
            </a:extLst>
          </p:cNvPr>
          <p:cNvSpPr txBox="1"/>
          <p:nvPr/>
        </p:nvSpPr>
        <p:spPr>
          <a:xfrm>
            <a:off x="649480" y="723959"/>
            <a:ext cx="6067513" cy="461665"/>
          </a:xfrm>
          <a:prstGeom prst="rect">
            <a:avLst/>
          </a:prstGeom>
          <a:noFill/>
        </p:spPr>
        <p:txBody>
          <a:bodyPr wrap="square" rtlCol="0">
            <a:spAutoFit/>
          </a:bodyPr>
          <a:lstStyle/>
          <a:p>
            <a:r>
              <a:rPr lang="tr-TR" sz="2400" dirty="0">
                <a:solidFill>
                  <a:schemeClr val="bg1"/>
                </a:solidFill>
                <a:latin typeface="Times New Roman" panose="02020603050405020304" pitchFamily="18" charset="0"/>
                <a:cs typeface="Times New Roman" panose="02020603050405020304" pitchFamily="18" charset="0"/>
              </a:rPr>
              <a:t>5.1. </a:t>
            </a:r>
            <a:r>
              <a:rPr lang="tr-TR" sz="2400" dirty="0" err="1">
                <a:solidFill>
                  <a:schemeClr val="bg1"/>
                </a:solidFill>
                <a:latin typeface="Times New Roman" panose="02020603050405020304" pitchFamily="18" charset="0"/>
                <a:cs typeface="Times New Roman" panose="02020603050405020304" pitchFamily="18" charset="0"/>
              </a:rPr>
              <a:t>Future</a:t>
            </a:r>
            <a:r>
              <a:rPr lang="tr-TR" sz="2400" dirty="0">
                <a:solidFill>
                  <a:schemeClr val="bg1"/>
                </a:solidFill>
                <a:latin typeface="Times New Roman" panose="02020603050405020304" pitchFamily="18" charset="0"/>
                <a:cs typeface="Times New Roman" panose="02020603050405020304" pitchFamily="18" charset="0"/>
              </a:rPr>
              <a:t> </a:t>
            </a:r>
            <a:r>
              <a:rPr lang="tr-TR" sz="2400" dirty="0" err="1">
                <a:solidFill>
                  <a:schemeClr val="bg1"/>
                </a:solidFill>
                <a:latin typeface="Times New Roman" panose="02020603050405020304" pitchFamily="18" charset="0"/>
                <a:cs typeface="Times New Roman" panose="02020603050405020304" pitchFamily="18" charset="0"/>
              </a:rPr>
              <a:t>Imrovements</a:t>
            </a:r>
            <a:endParaRPr lang="en-GB"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83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B540-49DE-4AC2-8DC9-21C3B9D2448F}"/>
              </a:ext>
            </a:extLst>
          </p:cNvPr>
          <p:cNvSpPr>
            <a:spLocks noGrp="1"/>
          </p:cNvSpPr>
          <p:nvPr>
            <p:ph type="title"/>
          </p:nvPr>
        </p:nvSpPr>
        <p:spPr>
          <a:xfrm>
            <a:off x="838200" y="365125"/>
            <a:ext cx="8900604" cy="1325563"/>
          </a:xfrm>
        </p:spPr>
        <p:txBody>
          <a:bodyPr>
            <a:normAutofit/>
            <a:scene3d>
              <a:camera prst="orthographicFront"/>
              <a:lightRig rig="soft" dir="t">
                <a:rot lat="0" lon="0" rev="15600000"/>
              </a:lightRig>
            </a:scene3d>
            <a:sp3d extrusionH="57150" prstMaterial="softEdge">
              <a:bevelT w="25400" h="38100"/>
            </a:sp3d>
          </a:bodyPr>
          <a:lstStyle/>
          <a:p>
            <a:pPr algn="just"/>
            <a:r>
              <a:rPr lang="tr-TR"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REFERENCES</a:t>
            </a: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EDC69015-58B6-CD28-3313-5BA66BA57C5B}"/>
              </a:ext>
            </a:extLst>
          </p:cNvPr>
          <p:cNvSpPr>
            <a:spLocks noGrp="1" noChangeArrowheads="1"/>
          </p:cNvSpPr>
          <p:nvPr>
            <p:ph idx="1"/>
          </p:nvPr>
        </p:nvSpPr>
        <p:spPr bwMode="auto">
          <a:xfrm>
            <a:off x="633099" y="2029873"/>
            <a:ext cx="10211513"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None/>
            </a:pPr>
            <a:r>
              <a:rPr kumimoji="0" lang="en-US" altLang="en-US" sz="1800" i="0" u="none" strike="noStrike" cap="none" normalizeH="0" baseline="0" dirty="0">
                <a:ln>
                  <a:noFill/>
                </a:ln>
                <a:solidFill>
                  <a:schemeClr val="tx1"/>
                </a:solidFill>
                <a:effectLst/>
                <a:latin typeface="Arial" panose="020B0604020202020204" pitchFamily="34" charset="0"/>
              </a:rPr>
              <a:t>Vaswani, A., et al. (2017). Attention is All You Need. </a:t>
            </a:r>
            <a:r>
              <a:rPr kumimoji="0" lang="en-US" altLang="en-US" sz="1800" i="1" u="none" strike="noStrike" cap="none" normalizeH="0" baseline="0" dirty="0" err="1">
                <a:ln>
                  <a:noFill/>
                </a:ln>
                <a:solidFill>
                  <a:schemeClr val="tx1"/>
                </a:solidFill>
                <a:effectLst/>
                <a:latin typeface="Arial" panose="020B0604020202020204" pitchFamily="34" charset="0"/>
              </a:rPr>
              <a:t>NeurIPS</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indent="0" eaLnBrk="0" fontAlgn="base" hangingPunct="0">
              <a:lnSpc>
                <a:spcPct val="150000"/>
              </a:lnSpc>
              <a:spcBef>
                <a:spcPct val="0"/>
              </a:spcBef>
              <a:spcAft>
                <a:spcPct val="0"/>
              </a:spcAft>
              <a:buNone/>
            </a:pPr>
            <a:r>
              <a:rPr kumimoji="0" lang="en-US" altLang="en-US" sz="1800" i="0" u="none" strike="noStrike" cap="none" normalizeH="0" baseline="0" dirty="0" err="1">
                <a:ln>
                  <a:noFill/>
                </a:ln>
                <a:solidFill>
                  <a:schemeClr val="tx1"/>
                </a:solidFill>
                <a:effectLst/>
                <a:latin typeface="Arial" panose="020B0604020202020204" pitchFamily="34" charset="0"/>
              </a:rPr>
              <a:t>Touvron</a:t>
            </a:r>
            <a:r>
              <a:rPr kumimoji="0" lang="en-US" altLang="en-US" sz="1800" i="0" u="none" strike="noStrike" cap="none" normalizeH="0" baseline="0" dirty="0">
                <a:ln>
                  <a:noFill/>
                </a:ln>
                <a:solidFill>
                  <a:schemeClr val="tx1"/>
                </a:solidFill>
                <a:effectLst/>
                <a:latin typeface="Arial" panose="020B0604020202020204" pitchFamily="34" charset="0"/>
              </a:rPr>
              <a:t>, H., et al. (2024). </a:t>
            </a:r>
            <a:r>
              <a:rPr kumimoji="0" lang="en-US" altLang="en-US" sz="1800" i="0" u="none" strike="noStrike" cap="none" normalizeH="0" baseline="0" dirty="0" err="1">
                <a:ln>
                  <a:noFill/>
                </a:ln>
                <a:solidFill>
                  <a:schemeClr val="tx1"/>
                </a:solidFill>
                <a:effectLst/>
                <a:latin typeface="Arial" panose="020B0604020202020204" pitchFamily="34" charset="0"/>
              </a:rPr>
              <a:t>LLaMA</a:t>
            </a:r>
            <a:r>
              <a:rPr kumimoji="0" lang="en-US" altLang="en-US" sz="1800" i="0" u="none" strike="noStrike" cap="none" normalizeH="0" baseline="0" dirty="0">
                <a:ln>
                  <a:noFill/>
                </a:ln>
                <a:solidFill>
                  <a:schemeClr val="tx1"/>
                </a:solidFill>
                <a:effectLst/>
                <a:latin typeface="Arial" panose="020B0604020202020204" pitchFamily="34" charset="0"/>
              </a:rPr>
              <a:t> 3: Open-Weight Language Models. </a:t>
            </a:r>
            <a:r>
              <a:rPr kumimoji="0" lang="en-US" altLang="en-US" sz="1800" i="1" u="none" strike="noStrike" cap="none" normalizeH="0" baseline="0" dirty="0">
                <a:ln>
                  <a:noFill/>
                </a:ln>
                <a:solidFill>
                  <a:schemeClr val="tx1"/>
                </a:solidFill>
                <a:effectLst/>
                <a:latin typeface="Arial" panose="020B0604020202020204" pitchFamily="34" charset="0"/>
              </a:rPr>
              <a:t>Meta AI</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indent="0" eaLnBrk="0" fontAlgn="base" hangingPunct="0">
              <a:lnSpc>
                <a:spcPct val="150000"/>
              </a:lnSpc>
              <a:spcBef>
                <a:spcPct val="0"/>
              </a:spcBef>
              <a:spcAft>
                <a:spcPct val="0"/>
              </a:spcAft>
              <a:buNone/>
            </a:pPr>
            <a:r>
              <a:rPr kumimoji="0" lang="en-US" altLang="en-US" sz="1800" i="0" u="none" strike="noStrike" cap="none" normalizeH="0" baseline="0" dirty="0">
                <a:ln>
                  <a:noFill/>
                </a:ln>
                <a:solidFill>
                  <a:schemeClr val="tx1"/>
                </a:solidFill>
                <a:effectLst/>
                <a:latin typeface="Arial" panose="020B0604020202020204" pitchFamily="34" charset="0"/>
              </a:rPr>
              <a:t>Nous Research. (2024). Hermes 2 Pro Mistral 7B Model. </a:t>
            </a:r>
            <a:r>
              <a:rPr kumimoji="0" lang="en-US" altLang="en-US" sz="1800" i="1" u="none" strike="noStrike" cap="none" normalizeH="0" baseline="0" dirty="0">
                <a:ln>
                  <a:noFill/>
                </a:ln>
                <a:solidFill>
                  <a:schemeClr val="tx1"/>
                </a:solidFill>
                <a:effectLst/>
                <a:latin typeface="Arial" panose="020B0604020202020204" pitchFamily="34" charset="0"/>
              </a:rPr>
              <a:t>Hugging Face</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indent="0" eaLnBrk="0" fontAlgn="base" hangingPunct="0">
              <a:lnSpc>
                <a:spcPct val="150000"/>
              </a:lnSpc>
              <a:spcBef>
                <a:spcPct val="0"/>
              </a:spcBef>
              <a:spcAft>
                <a:spcPct val="0"/>
              </a:spcAft>
              <a:buNone/>
            </a:pPr>
            <a:r>
              <a:rPr kumimoji="0" lang="en-US" altLang="en-US" sz="1800" i="0" u="none" strike="noStrike" cap="none" normalizeH="0" baseline="0" dirty="0">
                <a:ln>
                  <a:noFill/>
                </a:ln>
                <a:solidFill>
                  <a:schemeClr val="tx1"/>
                </a:solidFill>
                <a:effectLst/>
                <a:latin typeface="Arial" panose="020B0604020202020204" pitchFamily="34" charset="0"/>
              </a:rPr>
              <a:t>Facebook AI. (2019). </a:t>
            </a:r>
            <a:r>
              <a:rPr kumimoji="0" lang="en-US" altLang="en-US" sz="1800" i="0" u="none" strike="noStrike" cap="none" normalizeH="0" baseline="0" dirty="0" err="1">
                <a:ln>
                  <a:noFill/>
                </a:ln>
                <a:solidFill>
                  <a:schemeClr val="tx1"/>
                </a:solidFill>
                <a:effectLst/>
                <a:latin typeface="Arial" panose="020B0604020202020204" pitchFamily="34" charset="0"/>
              </a:rPr>
              <a:t>EmpatheticDialogues</a:t>
            </a:r>
            <a:r>
              <a:rPr kumimoji="0" lang="en-US" altLang="en-US" sz="1800" i="0" u="none" strike="noStrike" cap="none" normalizeH="0" baseline="0" dirty="0">
                <a:ln>
                  <a:noFill/>
                </a:ln>
                <a:solidFill>
                  <a:schemeClr val="tx1"/>
                </a:solidFill>
                <a:effectLst/>
                <a:latin typeface="Arial" panose="020B0604020202020204" pitchFamily="34" charset="0"/>
              </a:rPr>
              <a:t> Dataset. </a:t>
            </a:r>
            <a:r>
              <a:rPr kumimoji="0" lang="en-US" altLang="en-US" sz="1800" i="1" u="none" strike="noStrike" cap="none" normalizeH="0" baseline="0" dirty="0">
                <a:ln>
                  <a:noFill/>
                </a:ln>
                <a:solidFill>
                  <a:schemeClr val="tx1"/>
                </a:solidFill>
                <a:effectLst/>
                <a:latin typeface="Arial" panose="020B0604020202020204" pitchFamily="34" charset="0"/>
              </a:rPr>
              <a:t>Hugging Face Datasets</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indent="0" eaLnBrk="0" fontAlgn="base" hangingPunct="0">
              <a:lnSpc>
                <a:spcPct val="150000"/>
              </a:lnSpc>
              <a:spcBef>
                <a:spcPct val="0"/>
              </a:spcBef>
              <a:spcAft>
                <a:spcPct val="0"/>
              </a:spcAft>
              <a:buNone/>
            </a:pPr>
            <a:r>
              <a:rPr kumimoji="0" lang="en-US" altLang="en-US" sz="1800" i="0" u="none" strike="noStrike" cap="none" normalizeH="0" baseline="0" dirty="0" err="1">
                <a:ln>
                  <a:noFill/>
                </a:ln>
                <a:solidFill>
                  <a:schemeClr val="tx1"/>
                </a:solidFill>
                <a:effectLst/>
                <a:latin typeface="Arial" panose="020B0604020202020204" pitchFamily="34" charset="0"/>
              </a:rPr>
              <a:t>ShenLab</a:t>
            </a:r>
            <a:r>
              <a:rPr kumimoji="0" lang="en-US" altLang="en-US" sz="1800" i="0" u="none" strike="noStrike" cap="none" normalizeH="0" baseline="0" dirty="0">
                <a:ln>
                  <a:noFill/>
                </a:ln>
                <a:solidFill>
                  <a:schemeClr val="tx1"/>
                </a:solidFill>
                <a:effectLst/>
                <a:latin typeface="Arial" panose="020B0604020202020204" pitchFamily="34" charset="0"/>
              </a:rPr>
              <a:t>. (2024). MentalChat16K Dataset. </a:t>
            </a:r>
            <a:r>
              <a:rPr kumimoji="0" lang="en-US" altLang="en-US" sz="1800" i="1" u="none" strike="noStrike" cap="none" normalizeH="0" baseline="0" dirty="0">
                <a:ln>
                  <a:noFill/>
                </a:ln>
                <a:solidFill>
                  <a:schemeClr val="tx1"/>
                </a:solidFill>
                <a:effectLst/>
                <a:latin typeface="Arial" panose="020B0604020202020204" pitchFamily="34" charset="0"/>
              </a:rPr>
              <a:t>Hugging Face Datasets</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indent="0" eaLnBrk="0" fontAlgn="base" hangingPunct="0">
              <a:lnSpc>
                <a:spcPct val="150000"/>
              </a:lnSpc>
              <a:spcBef>
                <a:spcPct val="0"/>
              </a:spcBef>
              <a:spcAft>
                <a:spcPct val="0"/>
              </a:spcAft>
              <a:buNone/>
            </a:pPr>
            <a:r>
              <a:rPr kumimoji="0" lang="en-US" altLang="en-US" sz="1800" i="0" u="none" strike="noStrike" cap="none" normalizeH="0" baseline="0" dirty="0">
                <a:ln>
                  <a:noFill/>
                </a:ln>
                <a:solidFill>
                  <a:schemeClr val="tx1"/>
                </a:solidFill>
                <a:effectLst/>
                <a:latin typeface="Arial" panose="020B0604020202020204" pitchFamily="34" charset="0"/>
              </a:rPr>
              <a:t>Hu, E. J., et al. (2021). </a:t>
            </a:r>
            <a:r>
              <a:rPr kumimoji="0" lang="en-US" altLang="en-US" sz="1800" i="0" u="none" strike="noStrike" cap="none" normalizeH="0" baseline="0" dirty="0" err="1">
                <a:ln>
                  <a:noFill/>
                </a:ln>
                <a:solidFill>
                  <a:schemeClr val="tx1"/>
                </a:solidFill>
                <a:effectLst/>
                <a:latin typeface="Arial" panose="020B0604020202020204" pitchFamily="34" charset="0"/>
              </a:rPr>
              <a:t>LoRA</a:t>
            </a:r>
            <a:r>
              <a:rPr kumimoji="0" lang="en-US" altLang="en-US" sz="1800" i="0" u="none" strike="noStrike" cap="none" normalizeH="0" baseline="0" dirty="0">
                <a:ln>
                  <a:noFill/>
                </a:ln>
                <a:solidFill>
                  <a:schemeClr val="tx1"/>
                </a:solidFill>
                <a:effectLst/>
                <a:latin typeface="Arial" panose="020B0604020202020204" pitchFamily="34" charset="0"/>
              </a:rPr>
              <a:t>: Low-Rank Adaptation of Large Language Models. </a:t>
            </a:r>
            <a:r>
              <a:rPr kumimoji="0" lang="en-US" altLang="en-US" sz="1800" i="1" u="none" strike="noStrike" cap="none" normalizeH="0" baseline="0" dirty="0" err="1">
                <a:ln>
                  <a:noFill/>
                </a:ln>
                <a:solidFill>
                  <a:schemeClr val="tx1"/>
                </a:solidFill>
                <a:effectLst/>
                <a:latin typeface="Arial" panose="020B0604020202020204" pitchFamily="34" charset="0"/>
              </a:rPr>
              <a:t>arXiv</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indent="0" eaLnBrk="0" fontAlgn="base" hangingPunct="0">
              <a:lnSpc>
                <a:spcPct val="150000"/>
              </a:lnSpc>
              <a:spcBef>
                <a:spcPct val="0"/>
              </a:spcBef>
              <a:spcAft>
                <a:spcPct val="0"/>
              </a:spcAft>
              <a:buNone/>
            </a:pPr>
            <a:r>
              <a:rPr kumimoji="0" lang="en-US" altLang="en-US" sz="1800" i="0" u="none" strike="noStrike" cap="none" normalizeH="0" baseline="0" dirty="0">
                <a:ln>
                  <a:noFill/>
                </a:ln>
                <a:solidFill>
                  <a:schemeClr val="tx1"/>
                </a:solidFill>
                <a:effectLst/>
                <a:latin typeface="Arial" panose="020B0604020202020204" pitchFamily="34" charset="0"/>
              </a:rPr>
              <a:t>Wolf, T., et al. (2020). Transformers: State-of-the-Art NLP. </a:t>
            </a:r>
            <a:r>
              <a:rPr kumimoji="0" lang="en-US" altLang="en-US" sz="1800" i="1" u="none" strike="noStrike" cap="none" normalizeH="0" baseline="0" dirty="0">
                <a:ln>
                  <a:noFill/>
                </a:ln>
                <a:solidFill>
                  <a:schemeClr val="tx1"/>
                </a:solidFill>
                <a:effectLst/>
                <a:latin typeface="Arial" panose="020B0604020202020204" pitchFamily="34" charset="0"/>
              </a:rPr>
              <a:t>EMNLP</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indent="0" eaLnBrk="0" fontAlgn="base" hangingPunct="0">
              <a:lnSpc>
                <a:spcPct val="150000"/>
              </a:lnSpc>
              <a:spcBef>
                <a:spcPct val="0"/>
              </a:spcBef>
              <a:spcAft>
                <a:spcPct val="0"/>
              </a:spcAft>
              <a:buNone/>
            </a:pPr>
            <a:r>
              <a:rPr kumimoji="0" lang="en-US" altLang="en-US" sz="1800" i="0" u="none" strike="noStrike" cap="none" normalizeH="0" baseline="0" dirty="0" err="1">
                <a:ln>
                  <a:noFill/>
                </a:ln>
                <a:solidFill>
                  <a:schemeClr val="tx1"/>
                </a:solidFill>
                <a:effectLst/>
                <a:latin typeface="Arial" panose="020B0604020202020204" pitchFamily="34" charset="0"/>
              </a:rPr>
              <a:t>Dettmers</a:t>
            </a:r>
            <a:r>
              <a:rPr kumimoji="0" lang="en-US" altLang="en-US" sz="1800" i="0" u="none" strike="noStrike" cap="none" normalizeH="0" baseline="0" dirty="0">
                <a:ln>
                  <a:noFill/>
                </a:ln>
                <a:solidFill>
                  <a:schemeClr val="tx1"/>
                </a:solidFill>
                <a:effectLst/>
                <a:latin typeface="Arial" panose="020B0604020202020204" pitchFamily="34" charset="0"/>
              </a:rPr>
              <a:t>, T., et al. (2022). 8-bit Optimizers for Large-Scale Models. </a:t>
            </a:r>
            <a:r>
              <a:rPr kumimoji="0" lang="en-US" altLang="en-US" sz="1800" i="1" u="none" strike="noStrike" cap="none" normalizeH="0" baseline="0" dirty="0" err="1">
                <a:ln>
                  <a:noFill/>
                </a:ln>
                <a:solidFill>
                  <a:schemeClr val="tx1"/>
                </a:solidFill>
                <a:effectLst/>
                <a:latin typeface="Arial" panose="020B0604020202020204" pitchFamily="34" charset="0"/>
              </a:rPr>
              <a:t>NeurIPS</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indent="0" eaLnBrk="0" fontAlgn="base" hangingPunct="0">
              <a:lnSpc>
                <a:spcPct val="150000"/>
              </a:lnSpc>
              <a:spcBef>
                <a:spcPct val="0"/>
              </a:spcBef>
              <a:spcAft>
                <a:spcPct val="0"/>
              </a:spcAft>
              <a:buNone/>
            </a:pPr>
            <a:r>
              <a:rPr kumimoji="0" lang="en-US" altLang="en-US" sz="1800" i="0" u="none" strike="noStrike" cap="none" normalizeH="0" baseline="0" dirty="0">
                <a:ln>
                  <a:noFill/>
                </a:ln>
                <a:solidFill>
                  <a:schemeClr val="tx1"/>
                </a:solidFill>
                <a:effectLst/>
                <a:latin typeface="Arial" panose="020B0604020202020204" pitchFamily="34" charset="0"/>
              </a:rPr>
              <a:t>Zhang, T., et al. (2020). </a:t>
            </a:r>
            <a:r>
              <a:rPr kumimoji="0" lang="en-US" altLang="en-US" sz="1800" i="0" u="none" strike="noStrike" cap="none" normalizeH="0" baseline="0" dirty="0" err="1">
                <a:ln>
                  <a:noFill/>
                </a:ln>
                <a:solidFill>
                  <a:schemeClr val="tx1"/>
                </a:solidFill>
                <a:effectLst/>
                <a:latin typeface="Arial" panose="020B0604020202020204" pitchFamily="34" charset="0"/>
              </a:rPr>
              <a:t>BERTScore</a:t>
            </a:r>
            <a:r>
              <a:rPr kumimoji="0" lang="en-US" altLang="en-US" sz="1800" i="0" u="none" strike="noStrike" cap="none" normalizeH="0" baseline="0" dirty="0">
                <a:ln>
                  <a:noFill/>
                </a:ln>
                <a:solidFill>
                  <a:schemeClr val="tx1"/>
                </a:solidFill>
                <a:effectLst/>
                <a:latin typeface="Arial" panose="020B0604020202020204" pitchFamily="34" charset="0"/>
              </a:rPr>
              <a:t>: Evaluating Text Generation with BERT. </a:t>
            </a:r>
            <a:r>
              <a:rPr kumimoji="0" lang="en-US" altLang="en-US" sz="1800" i="1" u="none" strike="noStrike" cap="none" normalizeH="0" baseline="0" dirty="0">
                <a:ln>
                  <a:noFill/>
                </a:ln>
                <a:solidFill>
                  <a:schemeClr val="tx1"/>
                </a:solidFill>
                <a:effectLst/>
                <a:latin typeface="Arial" panose="020B0604020202020204" pitchFamily="34" charset="0"/>
              </a:rPr>
              <a:t>ICLR</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indent="0" eaLnBrk="0" fontAlgn="base" hangingPunct="0">
              <a:lnSpc>
                <a:spcPct val="150000"/>
              </a:lnSpc>
              <a:spcBef>
                <a:spcPct val="0"/>
              </a:spcBef>
              <a:spcAft>
                <a:spcPct val="0"/>
              </a:spcAft>
              <a:buNone/>
            </a:pPr>
            <a:r>
              <a:rPr kumimoji="0" lang="en-US" altLang="en-US" sz="1800" i="0" u="none" strike="noStrike" cap="none" normalizeH="0" baseline="0" dirty="0" err="1">
                <a:ln>
                  <a:noFill/>
                </a:ln>
                <a:solidFill>
                  <a:schemeClr val="tx1"/>
                </a:solidFill>
                <a:effectLst/>
                <a:latin typeface="Arial" panose="020B0604020202020204" pitchFamily="34" charset="0"/>
              </a:rPr>
              <a:t>Papineni</a:t>
            </a:r>
            <a:r>
              <a:rPr kumimoji="0" lang="en-US" altLang="en-US" sz="1800" i="0" u="none" strike="noStrike" cap="none" normalizeH="0" baseline="0" dirty="0">
                <a:ln>
                  <a:noFill/>
                </a:ln>
                <a:solidFill>
                  <a:schemeClr val="tx1"/>
                </a:solidFill>
                <a:effectLst/>
                <a:latin typeface="Arial" panose="020B0604020202020204" pitchFamily="34" charset="0"/>
              </a:rPr>
              <a:t>, K., et al. (2002). BLEU: a Method for Automatic Evaluation of Machine Translation. </a:t>
            </a:r>
            <a:r>
              <a:rPr kumimoji="0" lang="en-US" altLang="en-US" sz="1800" i="1" u="none" strike="noStrike" cap="none" normalizeH="0" baseline="0" dirty="0">
                <a:ln>
                  <a:noFill/>
                </a:ln>
                <a:solidFill>
                  <a:schemeClr val="tx1"/>
                </a:solidFill>
                <a:effectLst/>
                <a:latin typeface="Arial" panose="020B0604020202020204" pitchFamily="34" charset="0"/>
              </a:rPr>
              <a:t>ACL</a:t>
            </a:r>
            <a:r>
              <a:rPr kumimoji="0" lang="en-US" altLang="en-US" sz="180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837857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5E45B6-F2F5-4917-BDA6-A4AE6D43C881}"/>
              </a:ext>
            </a:extLst>
          </p:cNvPr>
          <p:cNvSpPr txBox="1">
            <a:spLocks/>
          </p:cNvSpPr>
          <p:nvPr/>
        </p:nvSpPr>
        <p:spPr>
          <a:xfrm>
            <a:off x="1849835" y="2979678"/>
            <a:ext cx="8900604" cy="1325563"/>
          </a:xfrm>
          <a:prstGeom prst="rect">
            <a:avLst/>
          </a:prstGeom>
        </p:spPr>
        <p:txBody>
          <a:bodyPr vert="horz" lIns="91440" tIns="45720" rIns="91440" bIns="45720" rtlCol="0" anchor="b">
            <a:normAutofit/>
            <a:scene3d>
              <a:camera prst="orthographicFront"/>
              <a:lightRig rig="soft" dir="t">
                <a:rot lat="0" lon="0" rev="15600000"/>
              </a:lightRig>
            </a:scene3d>
            <a:sp3d extrusionH="57150" prstMaterial="softEdge">
              <a:bevelT w="25400" h="38100"/>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4500"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Thanks</a:t>
            </a:r>
            <a:endParaRPr lang="en-US" sz="45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2ADF1E78-5BA3-4DFB-9B71-F0FFCFB12C42}"/>
              </a:ext>
            </a:extLst>
          </p:cNvPr>
          <p:cNvSpPr txBox="1">
            <a:spLocks/>
          </p:cNvSpPr>
          <p:nvPr/>
        </p:nvSpPr>
        <p:spPr>
          <a:xfrm>
            <a:off x="1849835" y="659914"/>
            <a:ext cx="8900604" cy="1325563"/>
          </a:xfrm>
          <a:prstGeom prst="rect">
            <a:avLst/>
          </a:prstGeom>
        </p:spPr>
        <p:txBody>
          <a:bodyPr vert="horz" lIns="91440" tIns="45720" rIns="91440" bIns="45720" rtlCol="0" anchor="b">
            <a:normAutofit/>
            <a:scene3d>
              <a:camera prst="orthographicFront"/>
              <a:lightRig rig="soft" dir="t">
                <a:rot lat="0" lon="0" rev="15600000"/>
              </a:lightRig>
            </a:scene3d>
            <a:sp3d extrusionH="57150" prstMaterial="softEdge">
              <a:bevelT w="25400" h="38100"/>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4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ANKARA UNIVERSITY</a:t>
            </a:r>
          </a:p>
          <a:p>
            <a:r>
              <a:rPr lang="tr-TR" sz="4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COMPUTER ENGINEERING</a:t>
            </a:r>
            <a:endParaRPr lang="en-US" sz="4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B1CC5DBD-4DF9-C72C-0DE3-A2293AFA1F4D}"/>
              </a:ext>
            </a:extLst>
          </p:cNvPr>
          <p:cNvSpPr txBox="1">
            <a:spLocks/>
          </p:cNvSpPr>
          <p:nvPr/>
        </p:nvSpPr>
        <p:spPr>
          <a:xfrm>
            <a:off x="203200" y="4737258"/>
            <a:ext cx="11714480" cy="1325563"/>
          </a:xfrm>
          <a:prstGeom prst="rect">
            <a:avLst/>
          </a:prstGeom>
        </p:spPr>
        <p:txBody>
          <a:bodyPr vert="horz" lIns="91440" tIns="45720" rIns="91440" bIns="45720" rtlCol="0" anchor="b">
            <a:normAutofit fontScale="55000" lnSpcReduction="20000"/>
            <a:scene3d>
              <a:camera prst="orthographicFront"/>
              <a:lightRig rig="soft" dir="t">
                <a:rot lat="0" lon="0" rev="15600000"/>
              </a:lightRig>
            </a:scene3d>
            <a:sp3d extrusionH="57150" prstMaterial="softEdge">
              <a:bevelT w="25400" h="38100"/>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tr-TR" sz="2900"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Student</a:t>
            </a:r>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tr-TR" sz="2900"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Number</a:t>
            </a:r>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19290302</a:t>
            </a:r>
          </a:p>
          <a:p>
            <a:pPr algn="just"/>
            <a:endPar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r>
              <a:rPr lang="tr-TR" sz="2900"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Student</a:t>
            </a:r>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Name </a:t>
            </a:r>
            <a:r>
              <a:rPr lang="tr-TR" sz="2900"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Surname</a:t>
            </a:r>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Ramazan DAĞHAN</a:t>
            </a:r>
          </a:p>
          <a:p>
            <a:pPr algn="just"/>
            <a:endPar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Advisor Name </a:t>
            </a:r>
            <a:r>
              <a:rPr lang="tr-TR" sz="2900" dirty="0" err="1">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Surname</a:t>
            </a:r>
            <a:r>
              <a:rPr lang="tr-TR" sz="29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GB" sz="2900" b="1" dirty="0">
                <a:solidFill>
                  <a:srgbClr val="E8E8E8"/>
                </a:solidFill>
                <a:latin typeface="Times New Roman" panose="02020603050405020304" pitchFamily="18" charset="0"/>
                <a:cs typeface="Times New Roman" panose="02020603050405020304" pitchFamily="18" charset="0"/>
              </a:rPr>
              <a:t>Asst. Prof. BEGÜM MUTLU BİLGE</a:t>
            </a:r>
          </a:p>
          <a:p>
            <a:pPr algn="just"/>
            <a:endParaRPr lang="tr-TR" sz="2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br>
              <a:rPr lang="en-GB" sz="800" dirty="0"/>
            </a:br>
            <a:endParaRPr lang="en-US" sz="2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29229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716</TotalTime>
  <Words>1828</Words>
  <Application>Microsoft Office PowerPoint</Application>
  <PresentationFormat>Geniş ekran</PresentationFormat>
  <Paragraphs>205</Paragraphs>
  <Slides>24</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24</vt:i4>
      </vt:variant>
    </vt:vector>
  </HeadingPairs>
  <TitlesOfParts>
    <vt:vector size="31" baseType="lpstr">
      <vt:lpstr>Arial</vt:lpstr>
      <vt:lpstr>Calibri</vt:lpstr>
      <vt:lpstr>Calibri Light</vt:lpstr>
      <vt:lpstr>quote-cjk-patch</vt:lpstr>
      <vt:lpstr>Times New Roman</vt:lpstr>
      <vt:lpstr>Wingdings</vt:lpstr>
      <vt:lpstr>Office Theme</vt:lpstr>
      <vt:lpstr>PowerPoint Sunusu</vt:lpstr>
      <vt:lpstr>TABLE OF CONTENTS</vt:lpstr>
      <vt:lpstr>1. INTRODUCTION</vt:lpstr>
      <vt:lpstr>2. LITERATURE</vt:lpstr>
      <vt:lpstr>PowerPoint Sunusu</vt:lpstr>
      <vt:lpstr>PowerPoint Sunusu</vt:lpstr>
      <vt:lpstr>3. MATERIALS AND METHODS</vt:lpstr>
      <vt:lpstr>3. MATERIALS AND METHODS</vt:lpstr>
      <vt:lpstr>3. MATERIALS AND METHODS</vt:lpstr>
      <vt:lpstr>3. MATERIALS AND METHODS</vt:lpstr>
      <vt:lpstr>3. MATERIALS AND METHODS</vt:lpstr>
      <vt:lpstr>4. APPLICATION</vt:lpstr>
      <vt:lpstr>4.1. Tokenizer and Prompt Formatting </vt:lpstr>
      <vt:lpstr>Nous Hermes 2</vt:lpstr>
      <vt:lpstr>4.2. LoRA Congifuration (PEFT) </vt:lpstr>
      <vt:lpstr>PowerPoint Sunusu</vt:lpstr>
      <vt:lpstr>PowerPoint Sunusu</vt:lpstr>
      <vt:lpstr>PowerPoint Sunusu</vt:lpstr>
      <vt:lpstr>5. CONCLUSION</vt:lpstr>
      <vt:lpstr>5. CONCLUSION</vt:lpstr>
      <vt:lpstr>5. CONCLUSION</vt:lpstr>
      <vt:lpstr>PowerPoint Sunusu</vt:lpstr>
      <vt:lpstr>REFERENCES</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Toshiba</dc:creator>
  <cp:lastModifiedBy>Ramazan.Daghan</cp:lastModifiedBy>
  <cp:revision>30</cp:revision>
  <dcterms:created xsi:type="dcterms:W3CDTF">2020-01-04T11:06:46Z</dcterms:created>
  <dcterms:modified xsi:type="dcterms:W3CDTF">2025-06-19T23:59:15Z</dcterms:modified>
</cp:coreProperties>
</file>